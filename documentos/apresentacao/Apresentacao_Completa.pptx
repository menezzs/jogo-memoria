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753600" cy="7315200"/>
  <p:notesSz cx="6858000" cy="9144000"/>
  <p:embeddedFontLst>
    <p:embeddedFont>
      <p:font typeface="Inter" charset="1" panose="02000503000000020004"/>
      <p:regular r:id="rId19"/>
    </p:embeddedFont>
    <p:embeddedFont>
      <p:font typeface="Inter Bold" charset="1" panose="02000503000000020004"/>
      <p:regular r:id="rId20"/>
    </p:embeddedFont>
    <p:embeddedFont>
      <p:font typeface="Arial" charset="1" panose="020B0604020202020204"/>
      <p:regular r:id="rId21"/>
    </p:embeddedFont>
    <p:embeddedFont>
      <p:font typeface="Arial Bold" charset="1" panose="020B07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Apresentação da equipe. Cada participante identifica sua responsabilidade. Vitor: RF01 e requisitos. Arthur: ferramentas, RF02 e classes. Eduardo: planejamento e RF03. João Vitor Taques: casos de uso e RF04. Menezes: RF05 e publicação.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Vitor explica a proposta para apoiar as atividades de inclusão digital do TEDI. Evitar promessas clínicas de melhora da memória. A finalidade demonstrada é praticar a interação com uma interface digital. O vencedor é quem tem mais pares ao final, não quem encontra todos primeiro.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Vitor apresenta os cinco requisitos e a divisão de responsáveis. Todos integram a mesma partida. A pontuação é contada por tentativa completa e atribuída ao jogador que realizou a jogada.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Arthur explica a arquitetura. C guarda as regras da partida. O Emscripten compila o C para WebAssembly. JavaScript recebe cliques e consulta o C. Python serve os arquivos estáticos para teste local. Esta versão também possui um programa C de terminal.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Eduardo explica os marcos registrados e as atividades previstas. As chamadas foram combinadas, mas não são apresentadas como reuniões realizadas. A versão consolidada foi testada localmente e ainda depende da publicação pela equipe e da entrega no Moodle. Prazo: 16/10/2026 às 18h40.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João Vitor Taques explica que o ator Jogador representa os dois participantes. Iniciar inclui embaralhar. Registrar uma jogada inclui validar o par, atualizar a vez e consultar o resultado. A validação também atualiza os pontos e as tentativas. O resultado é consultado a cada tentativa e só encerra a partida no oitavo par.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Arthur explica o modelo em C. JogoMemoria contém Tabuleiro e Jogada. Tabuleiro contém 16 cartas. Placar contém dois registros Jogador. ControleTurnos mantém o jogador atual e o autor da última tentativa. ResultadoPartida consulta o placar. São structs e funções C, sem métodos de classes ou banco de dados.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Cada integrante pode mostrar seu módulo na IDE. Eduardo explica que a identificação do autor é guardada antes da troca e usada pela pontuação. A ponte C realiza o registro uma única vez. Os módulos de pontuação e resultado desta cópia foram preparados para a revisão e consolidação com a equipe.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Menezes abre a aplicação. Demonstrar uma nova partida, um acerto que mantém a vez, um erro que passa a vez depois de ocultar as cartas e o placar. Mostrar encerramento e reinício. Para o terminal C, usar build_console.bat com GCC disponível. Para a versão web compilada, usar o servidor HTTP. Ensaiar no computador da sala antes da apresentação.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Referências técnicas utilizadas na organização e na integração do projeto. O pacote inclui o código completo e os testes. As referências do modelo de Android e iOS foram substituídas por fontes relacionadas ao jogo em C e WebAssembly.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428750"/>
            <a:ext cx="8305800" cy="762000"/>
            <a:chOff x="0" y="0"/>
            <a:chExt cx="11074400" cy="10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744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074400" cy="101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Jogo da memória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3900" y="2238375"/>
            <a:ext cx="8305800" cy="457200"/>
            <a:chOff x="0" y="0"/>
            <a:chExt cx="110744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7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978" r="0" b="-30397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10744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Atividade digital para dois jogadores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723900" y="3038475"/>
          <a:ext cx="8305800" cy="3098800"/>
        </p:xfrm>
        <a:graphic>
          <a:graphicData uri="http://schemas.openxmlformats.org/drawingml/2006/table">
            <a:tbl>
              <a:tblPr/>
              <a:tblGrid>
                <a:gridCol w="6473778"/>
                <a:gridCol w="1832022"/>
              </a:tblGrid>
              <a:tr h="4400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Integrante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RA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</a:tr>
              <a:tr h="5317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Vitor Hugo do Prado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2618109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7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Eduardo Shioga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2565579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7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Arthur Simão Gimenes Dalio Pereira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2565544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7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João Vitor Taques Marques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2648156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7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João Vitor de Menezes Aguiar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2649349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Descrição do sistema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3900" y="2019300"/>
            <a:ext cx="8305800" cy="809625"/>
            <a:chOff x="0" y="0"/>
            <a:chExt cx="11074400" cy="1079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74400" cy="1079500"/>
            </a:xfrm>
            <a:custGeom>
              <a:avLst/>
              <a:gdLst/>
              <a:ahLst/>
              <a:cxnLst/>
              <a:rect r="r" b="b" t="t" l="l"/>
              <a:pathLst>
                <a:path h="1079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1079500"/>
                  </a:lnTo>
                  <a:lnTo>
                    <a:pt x="0" y="1079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893" r="0" b="-14989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1074400" cy="1079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Atividade de inclusão digital voltada ao público idoso.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23900" y="3028950"/>
            <a:ext cx="8305800" cy="714375"/>
            <a:chOff x="0" y="0"/>
            <a:chExt cx="11074400" cy="952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74400" cy="952500"/>
            </a:xfrm>
            <a:custGeom>
              <a:avLst/>
              <a:gdLst/>
              <a:ahLst/>
              <a:cxnLst/>
              <a:rect r="r" b="b" t="t" l="l"/>
              <a:pathLst>
                <a:path h="952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546" r="0" b="-1765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107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16 cartas formam 8 pares em um tabuleiro 4 × 4.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3900" y="3905250"/>
            <a:ext cx="8305800" cy="1047750"/>
            <a:chOff x="0" y="0"/>
            <a:chExt cx="11074400" cy="139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74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463" r="0" b="-10446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1074400" cy="1397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Dois jogadores se alternam. Acertar mantém a vez e soma um ponto. Errar passa a vez.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3900" y="5219700"/>
            <a:ext cx="8305800" cy="1000125"/>
            <a:chOff x="0" y="0"/>
            <a:chExt cx="11074400" cy="1333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744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18" r="0" b="-11181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1074400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Vence quem tiver mais pares. O placar de 4 a 4 termina empatado.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Requisitos funcionais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23900" y="2000250"/>
          <a:ext cx="8293100" cy="3860800"/>
        </p:xfrm>
        <a:graphic>
          <a:graphicData uri="http://schemas.openxmlformats.org/drawingml/2006/table">
            <a:tbl>
              <a:tblPr/>
              <a:tblGrid>
                <a:gridCol w="634290"/>
                <a:gridCol w="5377261"/>
                <a:gridCol w="2281549"/>
              </a:tblGrid>
              <a:tr h="4487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RF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Funcionalidade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Responsável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Criar e embaralhar o tabuleiro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Vitor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Escolher cartas e validar o par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Arthur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Controlar a vez dos jogadores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Eduardo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Contar pontos e tentativas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João Vitor Taques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Encerrar e apurar o vencedor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Menezes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Ferramentas utilizadas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23900" y="1952625"/>
          <a:ext cx="8293100" cy="4089400"/>
        </p:xfrm>
        <a:graphic>
          <a:graphicData uri="http://schemas.openxmlformats.org/drawingml/2006/table">
            <a:tbl>
              <a:tblPr/>
              <a:tblGrid>
                <a:gridCol w="2388413"/>
                <a:gridCol w="5904687"/>
              </a:tblGrid>
              <a:tr h="4420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Ferramenta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Aplicação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</a:tr>
              <a:tr h="607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Regras do jogo e estruturas de dados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HTML, CSS e JavaScript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Interface e comunicação com o 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Emscripten e WebAssembly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Compilação e execução no navegador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 e GitHub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Versionamento e colaboração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GitHub Pages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Publicação dos arquivos da pasta docs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Servidor HTTP para a demonstração local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Cronograma de desenvolvimento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23900" y="2000250"/>
          <a:ext cx="8305800" cy="4089400"/>
        </p:xfrm>
        <a:graphic>
          <a:graphicData uri="http://schemas.openxmlformats.org/drawingml/2006/table">
            <a:tbl>
              <a:tblPr/>
              <a:tblGrid>
                <a:gridCol w="1534253"/>
                <a:gridCol w="3229507"/>
                <a:gridCol w="1827844"/>
                <a:gridCol w="1714196"/>
              </a:tblGrid>
              <a:tr h="4481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Período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Atividade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Responsável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Situação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</a:tr>
              <a:tr h="6068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31/08 a 03/09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Proposta inicial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Equipe e Vitor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Registrado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8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 a 23/09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Divisão dos RFs e código base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Equipe e Vitor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Registrado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8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08/10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Repositório e versão web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Menezes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Registrado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8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15/10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RF01 a RF05 e testes locais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Testado</a:t>
                      </a:r>
                      <a:endParaRPr lang="en-US" sz="1100"/>
                    </a:p>
                    <a:p>
                      <a:pPr algn="l">
                        <a:lnSpc>
                          <a:spcPts val="1980"/>
                        </a:lnSpc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localmente</a:t>
                      </a:r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8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 e 16/10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Revisão final e publicação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Previsto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8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16/10</a:t>
                      </a:r>
                      <a:endParaRPr lang="en-US" sz="1100"/>
                    </a:p>
                    <a:p>
                      <a:pPr algn="l">
                        <a:lnSpc>
                          <a:spcPts val="1980"/>
                        </a:lnSpc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até 18h40</a:t>
                      </a:r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PDF no Moodle e apresentação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Previsto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723900" y="6343650"/>
            <a:ext cx="8477250" cy="238125"/>
            <a:chOff x="0" y="0"/>
            <a:chExt cx="11303000" cy="317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03000" cy="317500"/>
            </a:xfrm>
            <a:custGeom>
              <a:avLst/>
              <a:gdLst/>
              <a:ahLst/>
              <a:cxnLst/>
              <a:rect r="r" b="b" t="t" l="l"/>
              <a:pathLst>
                <a:path h="317500" w="11303000">
                  <a:moveTo>
                    <a:pt x="0" y="0"/>
                  </a:moveTo>
                  <a:lnTo>
                    <a:pt x="11303000" y="0"/>
                  </a:lnTo>
                  <a:lnTo>
                    <a:pt x="1130300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3667" r="0" b="-64366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303000" cy="31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Situação em 15/10/2026. Publicação e entrega ainda previstas.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Diagrama de casos de uso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250883" y="1950720"/>
            <a:ext cx="5397341" cy="4223385"/>
            <a:chOff x="0" y="0"/>
            <a:chExt cx="7196455" cy="56311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96455" cy="5631180"/>
            </a:xfrm>
            <a:custGeom>
              <a:avLst/>
              <a:gdLst/>
              <a:ahLst/>
              <a:cxnLst/>
              <a:rect r="r" b="b" t="t" l="l"/>
              <a:pathLst>
                <a:path h="5631180" w="7196455">
                  <a:moveTo>
                    <a:pt x="0" y="0"/>
                  </a:moveTo>
                  <a:lnTo>
                    <a:pt x="7196455" y="0"/>
                  </a:lnTo>
                  <a:lnTo>
                    <a:pt x="7196455" y="5631180"/>
                  </a:lnTo>
                  <a:lnTo>
                    <a:pt x="0" y="5631180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943589" y="2066687"/>
            <a:ext cx="2003822" cy="242888"/>
            <a:chOff x="0" y="0"/>
            <a:chExt cx="2671762" cy="3238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71763" cy="323851"/>
            </a:xfrm>
            <a:custGeom>
              <a:avLst/>
              <a:gdLst/>
              <a:ahLst/>
              <a:cxnLst/>
              <a:rect r="r" b="b" t="t" l="l"/>
              <a:pathLst>
                <a:path h="323851" w="2671763">
                  <a:moveTo>
                    <a:pt x="0" y="0"/>
                  </a:moveTo>
                  <a:lnTo>
                    <a:pt x="2671763" y="0"/>
                  </a:lnTo>
                  <a:lnTo>
                    <a:pt x="2671763" y="323851"/>
                  </a:lnTo>
                  <a:lnTo>
                    <a:pt x="0" y="323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671762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2"/>
                </a:lnSpc>
              </a:pPr>
              <a:r>
                <a:rPr lang="en-US" sz="1593" b="true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Jogo da memória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31633" y="3448526"/>
            <a:ext cx="418147" cy="418147"/>
            <a:chOff x="0" y="0"/>
            <a:chExt cx="557530" cy="5575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7530" cy="557530"/>
            </a:xfrm>
            <a:custGeom>
              <a:avLst/>
              <a:gdLst/>
              <a:ahLst/>
              <a:cxnLst/>
              <a:rect r="r" b="b" t="t" l="l"/>
              <a:pathLst>
                <a:path h="557530" w="557530">
                  <a:moveTo>
                    <a:pt x="0" y="278765"/>
                  </a:moveTo>
                  <a:cubicBezTo>
                    <a:pt x="0" y="124841"/>
                    <a:pt x="124841" y="0"/>
                    <a:pt x="278765" y="0"/>
                  </a:cubicBezTo>
                  <a:cubicBezTo>
                    <a:pt x="432689" y="0"/>
                    <a:pt x="557530" y="124841"/>
                    <a:pt x="557530" y="278765"/>
                  </a:cubicBezTo>
                  <a:cubicBezTo>
                    <a:pt x="557530" y="432689"/>
                    <a:pt x="432689" y="557530"/>
                    <a:pt x="278765" y="557530"/>
                  </a:cubicBezTo>
                  <a:cubicBezTo>
                    <a:pt x="124841" y="557530"/>
                    <a:pt x="0" y="432689"/>
                    <a:pt x="0" y="27876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AutoShape 19" id="19"/>
          <p:cNvSpPr/>
          <p:nvPr/>
        </p:nvSpPr>
        <p:spPr>
          <a:xfrm rot="5295000">
            <a:off x="1493834" y="4199334"/>
            <a:ext cx="701840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84540">
            <a:off x="1404804" y="4094083"/>
            <a:ext cx="871804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-3067080">
            <a:off x="1410205" y="4745831"/>
            <a:ext cx="537162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3067080">
            <a:off x="1734055" y="4745831"/>
            <a:ext cx="537162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340768" y="5078492"/>
            <a:ext cx="999887" cy="242888"/>
            <a:chOff x="0" y="0"/>
            <a:chExt cx="1333182" cy="3238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33183" cy="323851"/>
            </a:xfrm>
            <a:custGeom>
              <a:avLst/>
              <a:gdLst/>
              <a:ahLst/>
              <a:cxnLst/>
              <a:rect r="r" b="b" t="t" l="l"/>
              <a:pathLst>
                <a:path h="323851" w="1333183">
                  <a:moveTo>
                    <a:pt x="0" y="0"/>
                  </a:moveTo>
                  <a:lnTo>
                    <a:pt x="1333183" y="0"/>
                  </a:lnTo>
                  <a:lnTo>
                    <a:pt x="1333183" y="323851"/>
                  </a:lnTo>
                  <a:lnTo>
                    <a:pt x="0" y="323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13" r="0" b="-3021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333182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2"/>
                </a:lnSpc>
              </a:pPr>
              <a:r>
                <a:rPr lang="en-US" sz="1593" b="true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Jogador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8686" y="5367528"/>
            <a:ext cx="784041" cy="213741"/>
            <a:chOff x="0" y="0"/>
            <a:chExt cx="1045388" cy="2849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5388" cy="284988"/>
            </a:xfrm>
            <a:custGeom>
              <a:avLst/>
              <a:gdLst/>
              <a:ahLst/>
              <a:cxnLst/>
              <a:rect r="r" b="b" t="t" l="l"/>
              <a:pathLst>
                <a:path h="284988" w="1045388">
                  <a:moveTo>
                    <a:pt x="0" y="0"/>
                  </a:moveTo>
                  <a:lnTo>
                    <a:pt x="1045388" y="0"/>
                  </a:lnTo>
                  <a:lnTo>
                    <a:pt x="1045388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74" r="0" b="-2147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045388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1 ou 2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102600">
            <a:off x="2262978" y="4094083"/>
            <a:ext cx="718033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5370780">
            <a:off x="1716596" y="4114324"/>
            <a:ext cx="2523268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118680">
            <a:off x="2967333" y="2863453"/>
            <a:ext cx="62092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118680">
            <a:off x="2967333" y="4118372"/>
            <a:ext cx="62092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rot="118680">
            <a:off x="2967333" y="5373291"/>
            <a:ext cx="62092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3574733" y="2557939"/>
            <a:ext cx="1875473" cy="620554"/>
            <a:chOff x="0" y="0"/>
            <a:chExt cx="2500630" cy="82740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3623500" y="2768632"/>
            <a:ext cx="1777936" cy="213741"/>
            <a:chOff x="0" y="0"/>
            <a:chExt cx="2370582" cy="2849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70583" cy="284988"/>
            </a:xfrm>
            <a:custGeom>
              <a:avLst/>
              <a:gdLst/>
              <a:ahLst/>
              <a:cxnLst/>
              <a:rect r="r" b="b" t="t" l="l"/>
              <a:pathLst>
                <a:path h="284988" w="2370583">
                  <a:moveTo>
                    <a:pt x="0" y="0"/>
                  </a:moveTo>
                  <a:lnTo>
                    <a:pt x="2370583" y="0"/>
                  </a:lnTo>
                  <a:lnTo>
                    <a:pt x="2370583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080" r="0" b="-11208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370582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Iniciar partida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574733" y="3812858"/>
            <a:ext cx="1875473" cy="620554"/>
            <a:chOff x="0" y="0"/>
            <a:chExt cx="2500630" cy="82740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3568284" y="4023550"/>
            <a:ext cx="1888369" cy="213741"/>
            <a:chOff x="0" y="0"/>
            <a:chExt cx="2517826" cy="2849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17825" cy="284988"/>
            </a:xfrm>
            <a:custGeom>
              <a:avLst/>
              <a:gdLst/>
              <a:ahLst/>
              <a:cxnLst/>
              <a:rect r="r" b="b" t="t" l="l"/>
              <a:pathLst>
                <a:path h="284988" w="2517825">
                  <a:moveTo>
                    <a:pt x="0" y="0"/>
                  </a:moveTo>
                  <a:lnTo>
                    <a:pt x="2517825" y="0"/>
                  </a:lnTo>
                  <a:lnTo>
                    <a:pt x="2517825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47" r="0" b="-12214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517826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Registrar jogada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574733" y="5067776"/>
            <a:ext cx="1875473" cy="620554"/>
            <a:chOff x="0" y="0"/>
            <a:chExt cx="2500630" cy="82740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3568284" y="5278469"/>
            <a:ext cx="1888369" cy="213741"/>
            <a:chOff x="0" y="0"/>
            <a:chExt cx="2517826" cy="2849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17825" cy="284988"/>
            </a:xfrm>
            <a:custGeom>
              <a:avLst/>
              <a:gdLst/>
              <a:ahLst/>
              <a:cxnLst/>
              <a:rect r="r" b="b" t="t" l="l"/>
              <a:pathLst>
                <a:path h="284988" w="2517825">
                  <a:moveTo>
                    <a:pt x="0" y="0"/>
                  </a:moveTo>
                  <a:lnTo>
                    <a:pt x="2517825" y="0"/>
                  </a:lnTo>
                  <a:lnTo>
                    <a:pt x="2517825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47" r="0" b="-12214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517826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Consultar placar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570345" y="2557939"/>
            <a:ext cx="1875473" cy="620554"/>
            <a:chOff x="0" y="0"/>
            <a:chExt cx="2500630" cy="82740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508680" y="2768632"/>
            <a:ext cx="1998802" cy="213741"/>
            <a:chOff x="0" y="0"/>
            <a:chExt cx="2665070" cy="2849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65069" cy="284988"/>
            </a:xfrm>
            <a:custGeom>
              <a:avLst/>
              <a:gdLst/>
              <a:ahLst/>
              <a:cxnLst/>
              <a:rect r="r" b="b" t="t" l="l"/>
              <a:pathLst>
                <a:path h="284988" w="2665069">
                  <a:moveTo>
                    <a:pt x="0" y="0"/>
                  </a:moveTo>
                  <a:lnTo>
                    <a:pt x="2665069" y="0"/>
                  </a:lnTo>
                  <a:lnTo>
                    <a:pt x="2665069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214" r="0" b="-13221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2665070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Embaralhar cartas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570345" y="3529489"/>
            <a:ext cx="1875473" cy="620554"/>
            <a:chOff x="0" y="0"/>
            <a:chExt cx="2500630" cy="82740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839979" y="3740182"/>
            <a:ext cx="1336205" cy="213741"/>
            <a:chOff x="0" y="0"/>
            <a:chExt cx="1781607" cy="2849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81607" cy="284988"/>
            </a:xfrm>
            <a:custGeom>
              <a:avLst/>
              <a:gdLst/>
              <a:ahLst/>
              <a:cxnLst/>
              <a:rect r="r" b="b" t="t" l="l"/>
              <a:pathLst>
                <a:path h="284988" w="1781607">
                  <a:moveTo>
                    <a:pt x="0" y="0"/>
                  </a:moveTo>
                  <a:lnTo>
                    <a:pt x="1781607" y="0"/>
                  </a:lnTo>
                  <a:lnTo>
                    <a:pt x="1781607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811" r="0" b="-7181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781607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Validar par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570345" y="4420076"/>
            <a:ext cx="1875473" cy="620554"/>
            <a:chOff x="0" y="0"/>
            <a:chExt cx="2500630" cy="82740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6619113" y="4630769"/>
            <a:ext cx="1777936" cy="213741"/>
            <a:chOff x="0" y="0"/>
            <a:chExt cx="2370582" cy="2849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370583" cy="284988"/>
            </a:xfrm>
            <a:custGeom>
              <a:avLst/>
              <a:gdLst/>
              <a:ahLst/>
              <a:cxnLst/>
              <a:rect r="r" b="b" t="t" l="l"/>
              <a:pathLst>
                <a:path h="284988" w="2370583">
                  <a:moveTo>
                    <a:pt x="0" y="0"/>
                  </a:moveTo>
                  <a:lnTo>
                    <a:pt x="2370583" y="0"/>
                  </a:lnTo>
                  <a:lnTo>
                    <a:pt x="2370583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080" r="0" b="-11208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370582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Atualizar turno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570345" y="5310664"/>
            <a:ext cx="1875473" cy="620554"/>
            <a:chOff x="0" y="0"/>
            <a:chExt cx="2500630" cy="82740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6563897" y="5521357"/>
            <a:ext cx="1888369" cy="213741"/>
            <a:chOff x="0" y="0"/>
            <a:chExt cx="2517826" cy="2849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17825" cy="284988"/>
            </a:xfrm>
            <a:custGeom>
              <a:avLst/>
              <a:gdLst/>
              <a:ahLst/>
              <a:cxnLst/>
              <a:rect r="r" b="b" t="t" l="l"/>
              <a:pathLst>
                <a:path h="284988" w="2517825">
                  <a:moveTo>
                    <a:pt x="0" y="0"/>
                  </a:moveTo>
                  <a:lnTo>
                    <a:pt x="2517825" y="0"/>
                  </a:lnTo>
                  <a:lnTo>
                    <a:pt x="2517825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47" r="0" b="-12214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2517826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Apurar resultado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 rot="64260">
            <a:off x="5436775" y="2863453"/>
            <a:ext cx="1147010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0" id="70"/>
          <p:cNvGrpSpPr/>
          <p:nvPr/>
        </p:nvGrpSpPr>
        <p:grpSpPr>
          <a:xfrm rot="0">
            <a:off x="5507822" y="2634234"/>
            <a:ext cx="1004907" cy="155448"/>
            <a:chOff x="0" y="0"/>
            <a:chExt cx="1339875" cy="2072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339876" cy="207264"/>
            </a:xfrm>
            <a:custGeom>
              <a:avLst/>
              <a:gdLst/>
              <a:ahLst/>
              <a:cxnLst/>
              <a:rect r="r" b="b" t="t" l="l"/>
              <a:pathLst>
                <a:path h="207264" w="1339876">
                  <a:moveTo>
                    <a:pt x="0" y="0"/>
                  </a:moveTo>
                  <a:lnTo>
                    <a:pt x="1339876" y="0"/>
                  </a:lnTo>
                  <a:lnTo>
                    <a:pt x="1339876" y="207264"/>
                  </a:lnTo>
                  <a:lnTo>
                    <a:pt x="0" y="207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62" r="0" b="-7596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1339875" cy="216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23"/>
                </a:lnSpc>
              </a:pPr>
              <a:r>
                <a:rPr lang="en-US" sz="101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&lt;&lt;include&gt;&gt;</a:t>
              </a:r>
            </a:p>
          </p:txBody>
        </p:sp>
      </p:grpSp>
      <p:sp>
        <p:nvSpPr>
          <p:cNvPr name="AutoShape 73" id="73"/>
          <p:cNvSpPr/>
          <p:nvPr/>
        </p:nvSpPr>
        <p:spPr>
          <a:xfrm rot="111420">
            <a:off x="5436699" y="4118372"/>
            <a:ext cx="661378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rot="5358960">
            <a:off x="5197964" y="4721542"/>
            <a:ext cx="1794634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rot="147540">
            <a:off x="6084341" y="3835003"/>
            <a:ext cx="499567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rot="147540">
            <a:off x="6084341" y="4725591"/>
            <a:ext cx="499567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rot="147540">
            <a:off x="6084341" y="5616178"/>
            <a:ext cx="499567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8" id="78"/>
          <p:cNvGrpSpPr/>
          <p:nvPr/>
        </p:nvGrpSpPr>
        <p:grpSpPr>
          <a:xfrm rot="0">
            <a:off x="5507822" y="3597688"/>
            <a:ext cx="1004907" cy="155448"/>
            <a:chOff x="0" y="0"/>
            <a:chExt cx="1339875" cy="20726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39876" cy="207264"/>
            </a:xfrm>
            <a:custGeom>
              <a:avLst/>
              <a:gdLst/>
              <a:ahLst/>
              <a:cxnLst/>
              <a:rect r="r" b="b" t="t" l="l"/>
              <a:pathLst>
                <a:path h="207264" w="1339876">
                  <a:moveTo>
                    <a:pt x="0" y="0"/>
                  </a:moveTo>
                  <a:lnTo>
                    <a:pt x="1339876" y="0"/>
                  </a:lnTo>
                  <a:lnTo>
                    <a:pt x="1339876" y="207264"/>
                  </a:lnTo>
                  <a:lnTo>
                    <a:pt x="0" y="207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62" r="0" b="-7596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1339875" cy="216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23"/>
                </a:lnSpc>
              </a:pPr>
              <a:r>
                <a:rPr lang="en-US" sz="101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&lt;&lt;include&gt;&gt;</a:t>
              </a:r>
            </a:p>
          </p:txBody>
        </p:sp>
      </p:grpSp>
      <p:sp>
        <p:nvSpPr>
          <p:cNvPr name="AutoShape 81" id="81"/>
          <p:cNvSpPr/>
          <p:nvPr/>
        </p:nvSpPr>
        <p:spPr>
          <a:xfrm rot="1997279">
            <a:off x="6480124" y="2835116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-1997279">
            <a:off x="6480124" y="2883694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rot="1997279">
            <a:off x="6480124" y="3806666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rot="-1997279">
            <a:off x="6480124" y="3855244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rot="1997279">
            <a:off x="6480124" y="4697254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rot="-1997279">
            <a:off x="6480124" y="4745831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rot="1997279">
            <a:off x="6480124" y="5587841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rot="-1997279">
            <a:off x="6480124" y="5636419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9" id="89"/>
          <p:cNvGrpSpPr/>
          <p:nvPr/>
        </p:nvGrpSpPr>
        <p:grpSpPr>
          <a:xfrm rot="0">
            <a:off x="1156735" y="6295358"/>
            <a:ext cx="7440130" cy="174879"/>
            <a:chOff x="0" y="0"/>
            <a:chExt cx="9920173" cy="23317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920174" cy="233172"/>
            </a:xfrm>
            <a:custGeom>
              <a:avLst/>
              <a:gdLst/>
              <a:ahLst/>
              <a:cxnLst/>
              <a:rect r="r" b="b" t="t" l="l"/>
              <a:pathLst>
                <a:path h="233172" w="9920174">
                  <a:moveTo>
                    <a:pt x="0" y="0"/>
                  </a:moveTo>
                  <a:lnTo>
                    <a:pt x="9920174" y="0"/>
                  </a:lnTo>
                  <a:lnTo>
                    <a:pt x="9920174" y="233172"/>
                  </a:lnTo>
                  <a:lnTo>
                    <a:pt x="0" y="2331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980" r="0" b="-77898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9920173" cy="233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7"/>
                </a:lnSpc>
              </a:pPr>
              <a:r>
                <a:rPr lang="en-US" sz="114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 validação atualiza pontos e tentativas. Erro alterna a vez. Oitavo par encerra.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93" id="93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95" id="95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97" id="97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Diagrama de classes e estruturas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4037" y="6295358"/>
            <a:ext cx="6265526" cy="174879"/>
            <a:chOff x="0" y="0"/>
            <a:chExt cx="8354035" cy="2331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54035" cy="233172"/>
            </a:xfrm>
            <a:custGeom>
              <a:avLst/>
              <a:gdLst/>
              <a:ahLst/>
              <a:cxnLst/>
              <a:rect r="r" b="b" t="t" l="l"/>
              <a:pathLst>
                <a:path h="233172" w="8354035">
                  <a:moveTo>
                    <a:pt x="0" y="0"/>
                  </a:moveTo>
                  <a:lnTo>
                    <a:pt x="8354035" y="0"/>
                  </a:lnTo>
                  <a:lnTo>
                    <a:pt x="8354035" y="233172"/>
                  </a:lnTo>
                  <a:lnTo>
                    <a:pt x="0" y="2331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105" r="0" b="-64810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354035" cy="233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7"/>
                </a:lnSpc>
              </a:pPr>
              <a:r>
                <a:rPr lang="en-US" sz="114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Composição: losango preenchido. Consulta ao placar: linha tracejada.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52984" y="1801167"/>
            <a:ext cx="7971456" cy="4494191"/>
          </a:xfrm>
          <a:custGeom>
            <a:avLst/>
            <a:gdLst/>
            <a:ahLst/>
            <a:cxnLst/>
            <a:rect r="r" b="b" t="t" l="l"/>
            <a:pathLst>
              <a:path h="4494191" w="7971456">
                <a:moveTo>
                  <a:pt x="0" y="0"/>
                </a:moveTo>
                <a:lnTo>
                  <a:pt x="7971457" y="0"/>
                </a:lnTo>
                <a:lnTo>
                  <a:pt x="7971457" y="4494191"/>
                </a:lnTo>
                <a:lnTo>
                  <a:pt x="0" y="4494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085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Implementação integrada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23900" y="2000250"/>
          <a:ext cx="8305800" cy="3860800"/>
        </p:xfrm>
        <a:graphic>
          <a:graphicData uri="http://schemas.openxmlformats.org/drawingml/2006/table">
            <a:tbl>
              <a:tblPr/>
              <a:tblGrid>
                <a:gridCol w="3436228"/>
                <a:gridCol w="4869572"/>
              </a:tblGrid>
              <a:tr h="4487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Arquivo em src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Responsabilidade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projetocertificador.c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RF01 e integração entre os módulos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rf02.c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Seleção, comparação e estados das cartas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turnos.c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Jogador atual e alternância da vez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pontuacao.c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Pontos, tentativas e pares encontrados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resultado.c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Fim da partida, vencedor ou empate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731520" y="5962903"/>
            <a:ext cx="8305800" cy="593220"/>
            <a:chOff x="0" y="0"/>
            <a:chExt cx="11074400" cy="7909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74400" cy="790959"/>
            </a:xfrm>
            <a:custGeom>
              <a:avLst/>
              <a:gdLst/>
              <a:ahLst/>
              <a:cxnLst/>
              <a:rect r="r" b="b" t="t" l="l"/>
              <a:pathLst>
                <a:path h="790959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790959"/>
                  </a:lnTo>
                  <a:lnTo>
                    <a:pt x="0" y="7909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532" r="0" b="-19609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074400" cy="800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Os cinco requisitos funcionais passaram nos testes de integração em C compilados para WebAssembly e executados no navegador.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Demonstração do sistema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8178" y="1926519"/>
            <a:ext cx="8437245" cy="3347862"/>
            <a:chOff x="0" y="0"/>
            <a:chExt cx="11249660" cy="44638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49660" cy="4463816"/>
            </a:xfrm>
            <a:custGeom>
              <a:avLst/>
              <a:gdLst/>
              <a:ahLst/>
              <a:cxnLst/>
              <a:rect r="r" b="b" t="t" l="l"/>
              <a:pathLst>
                <a:path h="4463816" w="11249660">
                  <a:moveTo>
                    <a:pt x="0" y="0"/>
                  </a:moveTo>
                  <a:lnTo>
                    <a:pt x="11249660" y="0"/>
                  </a:lnTo>
                  <a:lnTo>
                    <a:pt x="11249660" y="4463816"/>
                  </a:lnTo>
                  <a:lnTo>
                    <a:pt x="0" y="44638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94" r="1557" b="424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11249660" cy="45685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7364" indent="-253682" lvl="1">
                <a:lnSpc>
                  <a:spcPts val="3806"/>
                </a:lnSpc>
                <a:buAutoNum type="arabicPeriod" startAt="1"/>
              </a:pPr>
              <a:r>
                <a:rPr lang="en-US" sz="234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Abrir a página de testes no navegador.</a:t>
              </a:r>
            </a:p>
            <a:p>
              <a:pPr algn="l" marL="507364" indent="-253682" lvl="1">
                <a:lnSpc>
                  <a:spcPts val="3806"/>
                </a:lnSpc>
                <a:buAutoNum type="arabicPeriod" startAt="1"/>
              </a:pPr>
              <a:r>
                <a:rPr lang="en-US" sz="234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Mostrar a verificação de jogadas, pares e turnos.</a:t>
              </a:r>
            </a:p>
            <a:p>
              <a:pPr algn="l" marL="507364" indent="-253682" lvl="1">
                <a:lnSpc>
                  <a:spcPts val="3806"/>
                </a:lnSpc>
                <a:buAutoNum type="arabicPeriod" startAt="1"/>
              </a:pPr>
              <a:r>
                <a:rPr lang="en-US" sz="234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Mostrar a validação da pontuação, das tentativas e do resultado.</a:t>
              </a:r>
            </a:p>
            <a:p>
              <a:pPr algn="l" marL="507364" indent="-253682" lvl="1">
                <a:lnSpc>
                  <a:spcPts val="3806"/>
                </a:lnSpc>
                <a:buAutoNum type="arabicPeriod" startAt="1"/>
              </a:pPr>
              <a:r>
                <a:rPr lang="en-US" sz="234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Conferir a mensagem: “RF01 + RF02 + RF03 + RF04 + RF05: todos os testes passaram.”</a:t>
              </a:r>
            </a:p>
            <a:p>
              <a:pPr algn="l">
                <a:lnSpc>
                  <a:spcPts val="380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23900" y="5505450"/>
            <a:ext cx="8305800" cy="333375"/>
            <a:chOff x="0" y="0"/>
            <a:chExt cx="11074400" cy="444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74400" cy="444500"/>
            </a:xfrm>
            <a:custGeom>
              <a:avLst/>
              <a:gdLst/>
              <a:ahLst/>
              <a:cxnLst/>
              <a:rect r="r" b="b" t="t" l="l"/>
              <a:pathLst>
                <a:path h="444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455" r="0" b="-43545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1074400" cy="44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Terminal C: build_console.bat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3900" y="5953125"/>
            <a:ext cx="8305800" cy="400050"/>
            <a:chOff x="0" y="0"/>
            <a:chExt cx="11074400" cy="5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74400" cy="533400"/>
            </a:xfrm>
            <a:custGeom>
              <a:avLst/>
              <a:gdLst/>
              <a:ahLst/>
              <a:cxnLst/>
              <a:rect r="r" b="b" t="t" l="l"/>
              <a:pathLst>
                <a:path h="5334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546" r="0" b="-35454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1074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Web: python -m http.server 8000 --directory docs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Referências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3900" y="2047875"/>
            <a:ext cx="8305800" cy="428625"/>
            <a:chOff x="0" y="0"/>
            <a:chExt cx="11074400" cy="571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744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76" r="0" b="-3275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10744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Emscripten. Interacting with code.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23900" y="2562225"/>
            <a:ext cx="8305800" cy="714375"/>
            <a:chOff x="0" y="0"/>
            <a:chExt cx="11074400" cy="952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74400" cy="952500"/>
            </a:xfrm>
            <a:custGeom>
              <a:avLst/>
              <a:gdLst/>
              <a:ahLst/>
              <a:cxnLst/>
              <a:rect r="r" b="b" t="t" l="l"/>
              <a:pathLst>
                <a:path h="952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546" r="0" b="-1765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107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emscripten.org/docs/porting/connecting_cpp_and_javascript/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Interacting-with-code.html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3900" y="3648075"/>
            <a:ext cx="8305800" cy="428625"/>
            <a:chOff x="0" y="0"/>
            <a:chExt cx="11074400" cy="571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744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76" r="0" b="-32757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10744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Emscripten. Compiler Frontend emcc.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3900" y="4171950"/>
            <a:ext cx="8305800" cy="428625"/>
            <a:chOff x="0" y="0"/>
            <a:chExt cx="11074400" cy="571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744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76" r="0" b="-3275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10744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emscripten.org/docs/tools_reference/emcc.html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23900" y="5038725"/>
            <a:ext cx="8305800" cy="428625"/>
            <a:chOff x="0" y="0"/>
            <a:chExt cx="11074400" cy="571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744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76" r="0" b="-32757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10744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Equipe do projeto. Jogo da Memória.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23900" y="5562600"/>
            <a:ext cx="8305800" cy="685800"/>
            <a:chOff x="0" y="0"/>
            <a:chExt cx="1107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7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985" r="0" b="-18598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107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github.com/menezzs/jogo-memoria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Base consultada em 15/10/2026. Código consolidado no pacote.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DAHYMSPjsLA</dc:identifier>
  <dcterms:modified xsi:type="dcterms:W3CDTF">2011-08-01T06:04:30Z</dcterms:modified>
  <cp:revision>1</cp:revision>
  <dc:title>Apresentacao_Completa_v2 (3).pptx</dc:title>
</cp:coreProperties>
</file>