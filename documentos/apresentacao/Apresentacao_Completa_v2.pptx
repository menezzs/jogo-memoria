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9721f98fc8403a" /><Relationship Type="http://schemas.openxmlformats.org/officeDocument/2006/relationships/extended-properties" Target="/docProps/app.xml" Id="Rd89200dfabfb4d60" /><Relationship Type="http://schemas.openxmlformats.org/officeDocument/2006/relationships/officeDocument" Target="/ppt/presentation.xml" Id="Rba12177831554c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22ac1e3b7c4d93"/>
  </p:sldMasterIdLst>
  <p:notesMasterIdLst>
    <p:notesMasterId xmlns:r="http://schemas.openxmlformats.org/officeDocument/2006/relationships" r:id="R022f7edd11524dbe"/>
  </p:notesMasterIdLst>
  <p:sldIdLst>
    <p:sldId xmlns:r="http://schemas.openxmlformats.org/officeDocument/2006/relationships" id="256" r:id="R0d1eec309d574fbb"/>
    <p:sldId xmlns:r="http://schemas.openxmlformats.org/officeDocument/2006/relationships" id="257" r:id="Re04a37a39c994b6e"/>
    <p:sldId xmlns:r="http://schemas.openxmlformats.org/officeDocument/2006/relationships" id="258" r:id="R08af0f76e0434de8"/>
    <p:sldId xmlns:r="http://schemas.openxmlformats.org/officeDocument/2006/relationships" id="259" r:id="R2326fdf9834d4fda"/>
    <p:sldId xmlns:r="http://schemas.openxmlformats.org/officeDocument/2006/relationships" id="260" r:id="Rb98d9dcbce754830"/>
    <p:sldId xmlns:r="http://schemas.openxmlformats.org/officeDocument/2006/relationships" id="261" r:id="R499f351f7fef4fcb"/>
    <p:sldId xmlns:r="http://schemas.openxmlformats.org/officeDocument/2006/relationships" id="262" r:id="R5eb200b014f6484b"/>
    <p:sldId xmlns:r="http://schemas.openxmlformats.org/officeDocument/2006/relationships" id="263" r:id="R846be2653c9d497c"/>
    <p:sldId xmlns:r="http://schemas.openxmlformats.org/officeDocument/2006/relationships" id="264" r:id="Rcc705aa25c0344cf"/>
    <p:sldId xmlns:r="http://schemas.openxmlformats.org/officeDocument/2006/relationships" id="265" r:id="R1fe6636662bd46e3"/>
  </p:sldIdLst>
  <p:sldSz cx="9753600" cy="7315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bbfe0fee6c4847" /><Relationship Type="http://schemas.openxmlformats.org/officeDocument/2006/relationships/slideMaster" Target="/ppt/slideMasters/slideMaster1.xml" Id="R0d22ac1e3b7c4d93" /><Relationship Type="http://schemas.openxmlformats.org/officeDocument/2006/relationships/notesMaster" Target="/ppt/notesMasters/notesMaster1.xml" Id="R022f7edd11524dbe" /><Relationship Type="http://schemas.openxmlformats.org/officeDocument/2006/relationships/presProps" Target="/ppt/presProps.xml" Id="Rd50333eb38ad416a" /><Relationship Type="http://schemas.openxmlformats.org/officeDocument/2006/relationships/tableStyles" Target="/ppt/tableStyles.xml" Id="Re57dc2b60b6641cd" /><Relationship Type="http://schemas.openxmlformats.org/officeDocument/2006/relationships/slide" Target="/ppt/slides/slide1.xml" Id="R0d1eec309d574fbb" /><Relationship Type="http://schemas.openxmlformats.org/officeDocument/2006/relationships/slide" Target="/ppt/slides/slide2.xml" Id="Re04a37a39c994b6e" /><Relationship Type="http://schemas.openxmlformats.org/officeDocument/2006/relationships/slide" Target="/ppt/slides/slide3.xml" Id="R08af0f76e0434de8" /><Relationship Type="http://schemas.openxmlformats.org/officeDocument/2006/relationships/slide" Target="/ppt/slides/slide4.xml" Id="R2326fdf9834d4fda" /><Relationship Type="http://schemas.openxmlformats.org/officeDocument/2006/relationships/slide" Target="/ppt/slides/slide5.xml" Id="Rb98d9dcbce754830" /><Relationship Type="http://schemas.openxmlformats.org/officeDocument/2006/relationships/slide" Target="/ppt/slides/slide6.xml" Id="R499f351f7fef4fcb" /><Relationship Type="http://schemas.openxmlformats.org/officeDocument/2006/relationships/slide" Target="/ppt/slides/slide7.xml" Id="R5eb200b014f6484b" /><Relationship Type="http://schemas.openxmlformats.org/officeDocument/2006/relationships/slide" Target="/ppt/slides/slide8.xml" Id="R846be2653c9d497c" /><Relationship Type="http://schemas.openxmlformats.org/officeDocument/2006/relationships/slide" Target="/ppt/slides/slide9.xml" Id="Rcc705aa25c0344cf" /><Relationship Type="http://schemas.openxmlformats.org/officeDocument/2006/relationships/slide" Target="/ppt/slides/slide10.xml" Id="R1fe6636662bd46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7ab311d7e64f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14d0d870ef4b76" /><Relationship Type="http://schemas.openxmlformats.org/officeDocument/2006/relationships/notesMaster" Target="/ppt/notesMasters/notesMaster1.xml" Id="R0941fbbb75da43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4cf4404e344fbc" /><Relationship Type="http://schemas.openxmlformats.org/officeDocument/2006/relationships/notesMaster" Target="/ppt/notesMasters/notesMaster1.xml" Id="Re0f450b5ef4d42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eddd28ffc44eb3" /><Relationship Type="http://schemas.openxmlformats.org/officeDocument/2006/relationships/notesMaster" Target="/ppt/notesMasters/notesMaster1.xml" Id="R270736a2f5484b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acf6dfd6364201" /><Relationship Type="http://schemas.openxmlformats.org/officeDocument/2006/relationships/notesMaster" Target="/ppt/notesMasters/notesMaster1.xml" Id="Rf52f9d7aff3146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b2b13a4a014d61" /><Relationship Type="http://schemas.openxmlformats.org/officeDocument/2006/relationships/notesMaster" Target="/ppt/notesMasters/notesMaster1.xml" Id="R3257809aa54a44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2a00df39a34c9f" /><Relationship Type="http://schemas.openxmlformats.org/officeDocument/2006/relationships/notesMaster" Target="/ppt/notesMasters/notesMaster1.xml" Id="R0b2a302227a345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ce7f997d4b4cc4" /><Relationship Type="http://schemas.openxmlformats.org/officeDocument/2006/relationships/notesMaster" Target="/ppt/notesMasters/notesMaster1.xml" Id="R7007e561572542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1608bca9214066" /><Relationship Type="http://schemas.openxmlformats.org/officeDocument/2006/relationships/notesMaster" Target="/ppt/notesMasters/notesMaster1.xml" Id="Rfbf92c2b895d4b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5cc442ee114379" /><Relationship Type="http://schemas.openxmlformats.org/officeDocument/2006/relationships/notesMaster" Target="/ppt/notesMasters/notesMaster1.xml" Id="R5b1a0f079f864d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624727644c4d3a" /><Relationship Type="http://schemas.openxmlformats.org/officeDocument/2006/relationships/notesMaster" Target="/ppt/notesMasters/notesMaster1.xml" Id="R6e1352a1937648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Apresentação da equipe. Cada participante identifica sua responsabilidade. Vitor: RF01 e requisitos. Arthur: ferramentas, RF02 e classes. Eduardo: planejamento e RF03. João Vitor Taques: casos de uso e RF04. Menezes: RF05 e publicação.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conversa do grupo até 15/10/2026, aviso do Moodle, relatório coletivo e código integrado baseado em https://github.com/menezzs/jogo-memoria, commit 1775506. Verificação: testes C, WebAssembly, DOM simulado e Chromium real. A versão desta entrega ainda deve ser enviada ao repositório pela equipe.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Vitor explica a proposta para apoiar as atividades de inclusão digital do TEDI. Evitar promessas clínicas de melhora da memória. A finalidade demonstrada é praticar a interação com uma interface digital. O vencedor é quem tem mais pares ao final, não quem encontra todos primeiro.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conversa do grupo até 15/10/2026, aviso do Moodle, relatório coletivo e código integrado baseado em https://github.com/menezzs/jogo-memoria, commit 1775506. Verificação: testes C, WebAssembly, DOM simulado e Chromium real. A versão desta entrega ainda deve ser enviada ao repositório pela equipe.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Vitor apresenta os cinco requisitos e a divisão de responsáveis. Todos integram a mesma partida. A pontuação é contada por tentativa completa e atribuída ao jogador que realizou a jogada.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conversa do grupo até 15/10/2026, aviso do Moodle, relatório coletivo e código integrado baseado em https://github.com/menezzs/jogo-memoria, commit 1775506. Verificação: testes C, WebAssembly, DOM simulado e Chromium real. A versão desta entrega ainda deve ser enviada ao repositório pela equipe.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Arthur explica a arquitetura. C guarda as regras da partida. O Emscripten compila o C para WebAssembly. JavaScript recebe cliques e consulta o C. Python serve os arquivos estáticos para teste local. Esta versão também possui um programa C de terminal.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conversa do grupo até 15/10/2026, aviso do Moodle, relatório coletivo e código integrado baseado em https://github.com/menezzs/jogo-memoria, commit 1775506. Verificação: testes C, WebAssembly, DOM simulado e Chromium real. A versão desta entrega ainda deve ser enviada ao repositório pela equipe.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Eduardo explica os marcos registrados e as atividades previstas. As chamadas foram combinadas, mas não são apresentadas como reuniões realizadas. A versão consolidada foi testada localmente e ainda depende da publicação pela equipe e da entrega no Moodle. Prazo: 16/10/2026 às 18h40.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conversa do grupo até 15/10/2026, aviso do Moodle, relatório coletivo e código integrado baseado em https://github.com/menezzs/jogo-memoria, commit 1775506. Verificação: testes C, WebAssembly, DOM simulado e Chromium real. A versão desta entrega ainda deve ser enviada ao repositório pela equipe.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João Vitor Taques explica que o ator Jogador representa os dois participantes. Iniciar inclui embaralhar. Registrar uma jogada inclui validar o par, atualizar a vez e consultar o resultado. A validação também atualiza os pontos e as tentativas. O resultado é consultado a cada tentativa e só encerra a partida no oitavo par.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conversa do grupo até 15/10/2026, aviso do Moodle, relatório coletivo e código integrado baseado em https://github.com/menezzs/jogo-memoria, commit 1775506. Verificação: testes C, WebAssembly, DOM simulado e Chromium real. A versão desta entrega ainda deve ser enviada ao repositório pela equipe.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Arthur explica o modelo em C. JogoMemoria contém Tabuleiro e Jogada. Tabuleiro contém 16 cartas. Placar contém dois registros Jogador. ControleTurnos mantém o jogador atual e o autor da última tentativa. ResultadoPartida consulta o placar. São structs e funções C, sem métodos de classes ou banco de dados.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conversa do grupo até 15/10/2026, aviso do Moodle, relatório coletivo e código integrado baseado em https://github.com/menezzs/jogo-memoria, commit 1775506. Verificação: testes C, WebAssembly, DOM simulado e Chromium real. A versão desta entrega ainda deve ser enviada ao repositório pela equipe.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Cada integrante pode mostrar seu módulo na IDE. Eduardo explica que a identificação do autor é guardada antes da troca e usada pela pontuação. A ponte C realiza o registro uma única vez. Os módulos de pontuação e resultado desta cópia foram preparados para a revisão e consolidação com a equipe.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conversa do grupo até 15/10/2026, aviso do Moodle, relatório coletivo e código integrado baseado em https://github.com/menezzs/jogo-memoria, commit 1775506. Verificação: testes C, WebAssembly, DOM simulado e Chromium real. A versão desta entrega ainda deve ser enviada ao repositório pela equipe.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Menezes abre a aplicação. Demonstrar uma nova partida, um acerto que mantém a vez, um erro que passa a vez depois de ocultar as cartas e o placar. Mostrar encerramento e reinício. Para o terminal C, usar build_console.bat com GCC disponível. Para a versão web compilada, usar o servidor HTTP. Ensaiar no computador da sala antes da apresentação.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conversa do grupo até 15/10/2026, aviso do Moodle, relatório coletivo e código integrado baseado em https://github.com/menezzs/jogo-memoria, commit 1775506. Verificação: testes C, WebAssembly, DOM simulado e Chromium real. A versão desta entrega ainda deve ser enviada ao repositório pela equipe.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Referências técnicas utilizadas na organização e na integração do projeto. O pacote inclui o código completo e os testes. As referências do modelo de Android e iOS foram substituídas por fontes relacionadas ao jogo em C e WebAssembly.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conversa do grupo até 15/10/2026, aviso do Moodle, relatório coletivo e código integrado baseado em https://github.com/menezzs/jogo-memoria, commit 1775506. Verificação: testes C, WebAssembly, DOM simulado e Chromium real. A versão desta entrega ainda deve ser enviada ao repositório pela equipe.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fe44b04ead423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d00f6cee674ca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e4c95776ac426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d14a8a813c45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2ce78c49c54e6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8749f502e14d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DD0F09-B766-468C-B9E5-CFA42348F5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75360" y="2763520"/>
            <a:ext cx="7802880" cy="105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8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2822ACA-B4E6-497C-8182-D21F83CE7FA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63040" y="4023360"/>
            <a:ext cx="6827520" cy="8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6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9EB57C6-4975-4F4B-8F11-EC897457DC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75360" y="3048000"/>
            <a:ext cx="780288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3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FAB267-F1E1-46B7-AFDF-B0253488C8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8640" y="568960"/>
            <a:ext cx="8656320" cy="89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892967C-8485-4377-99C8-566AFB594A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48640" y="2032000"/>
            <a:ext cx="8656320" cy="455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828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1pPr>
            <a:lvl2pPr marL="4267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2pPr>
            <a:lvl3pPr marL="6705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3pPr>
            <a:lvl4pPr marL="9144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4pPr>
            <a:lvl5pPr marL="115824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5pPr>
            <a:lvl6pPr marL="14020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6pPr>
            <a:lvl7pPr marL="16459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7pPr>
            <a:lvl8pPr marL="18897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8pPr>
            <a:lvl9pPr marL="21336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8EA8365-FB2D-4A42-880C-EAF78FE6B3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8640" y="568960"/>
            <a:ext cx="8656320" cy="89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19AF7CB-E5E5-48F8-8824-30722AE710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48640" y="2032000"/>
            <a:ext cx="4023360" cy="455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828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1pPr>
            <a:lvl2pPr marL="4267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2pPr>
            <a:lvl3pPr marL="6705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3pPr>
            <a:lvl4pPr marL="9144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4pPr>
            <a:lvl5pPr marL="115824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5pPr>
            <a:lvl6pPr marL="14020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6pPr>
            <a:lvl7pPr marL="16459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7pPr>
            <a:lvl8pPr marL="18897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8pPr>
            <a:lvl9pPr marL="21336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2107843-8B79-4E21-B7FD-1EE7E09440F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181600" y="2032000"/>
            <a:ext cx="4023360" cy="455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828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1pPr>
            <a:lvl2pPr marL="4267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2pPr>
            <a:lvl3pPr marL="6705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3pPr>
            <a:lvl4pPr marL="9144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4pPr>
            <a:lvl5pPr marL="115824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5pPr>
            <a:lvl6pPr marL="14020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6pPr>
            <a:lvl7pPr marL="16459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7pPr>
            <a:lvl8pPr marL="18897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8pPr>
            <a:lvl9pPr marL="21336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6AB77E-8D31-4E27-B797-46512BE6A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8640" y="568960"/>
            <a:ext cx="8656320" cy="89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6FFAF95-A2C4-4017-BF72-D2CC98417A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48640" y="2032000"/>
            <a:ext cx="4023360" cy="455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828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1pPr>
            <a:lvl2pPr marL="4267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2pPr>
            <a:lvl3pPr marL="6705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3pPr>
            <a:lvl4pPr marL="9144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4pPr>
            <a:lvl5pPr marL="115824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5pPr>
            <a:lvl6pPr marL="14020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6pPr>
            <a:lvl7pPr marL="16459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7pPr>
            <a:lvl8pPr marL="18897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8pPr>
            <a:lvl9pPr marL="21336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71369a445f4298" /><Relationship Type="http://schemas.openxmlformats.org/officeDocument/2006/relationships/slideLayout" Target="/ppt/slideLayouts/slideLayout1.xml" Id="R0d86a93920254aa6" /><Relationship Type="http://schemas.openxmlformats.org/officeDocument/2006/relationships/slideLayout" Target="/ppt/slideLayouts/slideLayout2.xml" Id="R949906b27e2447c5" /><Relationship Type="http://schemas.openxmlformats.org/officeDocument/2006/relationships/slideLayout" Target="/ppt/slideLayouts/slideLayout3.xml" Id="R19da89bb001a4cf6" /><Relationship Type="http://schemas.openxmlformats.org/officeDocument/2006/relationships/slideLayout" Target="/ppt/slideLayouts/slideLayout4.xml" Id="Rec8bdb7691264acd" /><Relationship Type="http://schemas.openxmlformats.org/officeDocument/2006/relationships/slideLayout" Target="/ppt/slideLayouts/slideLayout5.xml" Id="Re554d8c1216c4ee7" /><Relationship Type="http://schemas.openxmlformats.org/officeDocument/2006/relationships/slideLayout" Target="/ppt/slideLayouts/slideLayout6.xml" Id="R1f79d6b20e1941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86a93920254aa6"/>
    <p:sldLayoutId xmlns:r="http://schemas.openxmlformats.org/officeDocument/2006/relationships" id="2147483650" r:id="R949906b27e2447c5"/>
    <p:sldLayoutId xmlns:r="http://schemas.openxmlformats.org/officeDocument/2006/relationships" id="2147483651" r:id="R19da89bb001a4cf6"/>
    <p:sldLayoutId xmlns:r="http://schemas.openxmlformats.org/officeDocument/2006/relationships" id="2147483652" r:id="Rec8bdb7691264acd"/>
    <p:sldLayoutId xmlns:r="http://schemas.openxmlformats.org/officeDocument/2006/relationships" id="2147483653" r:id="Re554d8c1216c4ee7"/>
    <p:sldLayoutId xmlns:r="http://schemas.openxmlformats.org/officeDocument/2006/relationships" id="2147483654" r:id="R1f79d6b20e1941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6959df742e4ad2" /><Relationship Type="http://schemas.openxmlformats.org/officeDocument/2006/relationships/image" Target="/ppt/media/image.png" Id="Rebde325b20eb4453" /><Relationship Type="http://schemas.openxmlformats.org/officeDocument/2006/relationships/image" Target="/ppt/media/image2.png" Id="R04635df1eed742fd" /><Relationship Type="http://schemas.openxmlformats.org/officeDocument/2006/relationships/notesSlide" Target="/ppt/notesSlides/notesSlide1.xml" Id="R68e4ce890b1f45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c17cd4c7dc4c4c" /><Relationship Type="http://schemas.openxmlformats.org/officeDocument/2006/relationships/image" Target="/ppt/media/image3.png" Id="R4773d86bf31f4035" /><Relationship Type="http://schemas.openxmlformats.org/officeDocument/2006/relationships/image" Target="/ppt/media/image4.png" Id="R5255acb765734a99" /><Relationship Type="http://schemas.openxmlformats.org/officeDocument/2006/relationships/notesSlide" Target="/ppt/notesSlides/notesSlide2.xml" Id="Rdca2dc53531e40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55197d53094f6e" /><Relationship Type="http://schemas.openxmlformats.org/officeDocument/2006/relationships/image" Target="/ppt/media/image5.png" Id="Rcc27b0b8bc1f4049" /><Relationship Type="http://schemas.openxmlformats.org/officeDocument/2006/relationships/image" Target="/ppt/media/image6.png" Id="R6da332a60fd3477f" /><Relationship Type="http://schemas.openxmlformats.org/officeDocument/2006/relationships/notesSlide" Target="/ppt/notesSlides/notesSlide3.xml" Id="Ra697da3b17d24f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8ac93fcf63428d" /><Relationship Type="http://schemas.openxmlformats.org/officeDocument/2006/relationships/image" Target="/ppt/media/image7.png" Id="Rc00f2c18bd9c4782" /><Relationship Type="http://schemas.openxmlformats.org/officeDocument/2006/relationships/image" Target="/ppt/media/image8.png" Id="Rd374638b8f4f4da5" /><Relationship Type="http://schemas.openxmlformats.org/officeDocument/2006/relationships/notesSlide" Target="/ppt/notesSlides/notesSlide4.xml" Id="Rc7960946cbdd48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f4a507b9bc4d82" /><Relationship Type="http://schemas.openxmlformats.org/officeDocument/2006/relationships/image" Target="/ppt/media/image9.png" Id="R0be805aa0a1f4a38" /><Relationship Type="http://schemas.openxmlformats.org/officeDocument/2006/relationships/image" Target="/ppt/media/image10.png" Id="R68ec3fb0875f4b50" /><Relationship Type="http://schemas.openxmlformats.org/officeDocument/2006/relationships/notesSlide" Target="/ppt/notesSlides/notesSlide5.xml" Id="Refd820fc6e7349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ef95c729dd49ab" /><Relationship Type="http://schemas.openxmlformats.org/officeDocument/2006/relationships/image" Target="/ppt/media/image11.png" Id="Rd1f29c93b3ec4ba1" /><Relationship Type="http://schemas.openxmlformats.org/officeDocument/2006/relationships/image" Target="/ppt/media/image12.png" Id="Re16566a75e9f4c22" /><Relationship Type="http://schemas.openxmlformats.org/officeDocument/2006/relationships/notesSlide" Target="/ppt/notesSlides/notesSlide6.xml" Id="Rca2602159e2d4a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6be1ee41554846" /><Relationship Type="http://schemas.openxmlformats.org/officeDocument/2006/relationships/image" Target="/ppt/media/image13.png" Id="R3090c09453a94f9d" /><Relationship Type="http://schemas.openxmlformats.org/officeDocument/2006/relationships/image" Target="/ppt/media/image14.png" Id="R4f83e10d69754516" /><Relationship Type="http://schemas.openxmlformats.org/officeDocument/2006/relationships/notesSlide" Target="/ppt/notesSlides/notesSlide7.xml" Id="Rbfdbac8c1bf941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20e12919df40d3" /><Relationship Type="http://schemas.openxmlformats.org/officeDocument/2006/relationships/image" Target="/ppt/media/image15.png" Id="R3fcf9be44bf445f1" /><Relationship Type="http://schemas.openxmlformats.org/officeDocument/2006/relationships/image" Target="/ppt/media/image16.png" Id="R60a6785f15ad4922" /><Relationship Type="http://schemas.openxmlformats.org/officeDocument/2006/relationships/notesSlide" Target="/ppt/notesSlides/notesSlide8.xml" Id="Rb6d7b68f183142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95d13ac5ad4984" /><Relationship Type="http://schemas.openxmlformats.org/officeDocument/2006/relationships/image" Target="/ppt/media/image17.png" Id="R5385b2da5fcc499b" /><Relationship Type="http://schemas.openxmlformats.org/officeDocument/2006/relationships/image" Target="/ppt/media/image18.png" Id="R9d8ff27d80bd4495" /><Relationship Type="http://schemas.openxmlformats.org/officeDocument/2006/relationships/notesSlide" Target="/ppt/notesSlides/notesSlide9.xml" Id="R19cee75bbf7649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0c5ecc208d4c54" /><Relationship Type="http://schemas.openxmlformats.org/officeDocument/2006/relationships/image" Target="/ppt/media/image19.png" Id="R3f296a98ebc34f61" /><Relationship Type="http://schemas.openxmlformats.org/officeDocument/2006/relationships/image" Target="/ppt/media/image20.png" Id="Rd2a8c97c52104efb" /><Relationship Type="http://schemas.openxmlformats.org/officeDocument/2006/relationships/notesSlide" Target="/ppt/notesSlides/notesSlide10.xml" Id="R6b354c5b494c41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D4B30-A220-4915-8796-6BABB5A032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de325b20eb4453"/>
          <a:srcRect xmlns:a="http://schemas.openxmlformats.org/drawingml/2006/main" l="0" t="0" r="0" b="88889"/>
          <a:stretch xmlns:a="http://schemas.openxmlformats.org/drawingml/2006/main"/>
        </p:blipFill>
        <p:spPr>
          <a:xfrm xmlns:a="http://schemas.openxmlformats.org/drawingml/2006/main">
            <a:off x="0" y="0"/>
            <a:ext cx="9753600" cy="812797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A3ABD-5397-4767-BE17-3E4A5E0D71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635df1eed742fd"/>
          <a:srcRect xmlns:a="http://schemas.openxmlformats.org/drawingml/2006/main" l="1938" t="95607" r="2132" b="3876"/>
          <a:stretch xmlns:a="http://schemas.openxmlformats.org/drawingml/2006/main"/>
        </p:blipFill>
        <p:spPr>
          <a:xfrm xmlns:a="http://schemas.openxmlformats.org/drawingml/2006/main">
            <a:off x="190500" y="6657975"/>
            <a:ext cx="9372600" cy="419100"/>
          </a:xfrm>
          <a:prstGeom xmlns:a="http://schemas.openxmlformats.org/drawingml/2006/main" prst="rect">
            <a:avLst/>
          </a:prstGeom>
        </p:spPr>
      </p:pic>
      <p:sp>
        <p:nvSpPr>
          <p:cNvPr id="3" name="texto-1">
            <a:extLst xmlns:a="http://schemas.openxmlformats.org/drawingml/2006/main">
              <a:ext uri="{FF2B5EF4-FFF2-40B4-BE49-F238E27FC236}">
                <a16:creationId xmlns:a16="http://schemas.microsoft.com/office/drawing/2014/main" id="{F8F2BF3B-947D-4D98-A5A1-30159DBB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715125"/>
            <a:ext cx="904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Disciplina: Certificadora de Competência I</a:t>
            </a:r>
          </a:p>
        </p:txBody>
      </p:sp>
      <p:sp>
        <p:nvSpPr>
          <p:cNvPr id="4" name="texto-2">
            <a:extLst xmlns:a="http://schemas.openxmlformats.org/drawingml/2006/main">
              <a:ext uri="{FF2B5EF4-FFF2-40B4-BE49-F238E27FC236}">
                <a16:creationId xmlns:a16="http://schemas.microsoft.com/office/drawing/2014/main" id="{54A25BD9-5531-48B3-AF50-C0E291B9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305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900" b="1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defRPr sz="3900" b="1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3900" b="1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Jogo da memória</a:t>
            </a:r>
          </a:p>
        </p:txBody>
      </p:sp>
      <p:sp>
        <p:nvSpPr>
          <p:cNvPr id="5" name="texto-3">
            <a:extLst xmlns:a="http://schemas.openxmlformats.org/drawingml/2006/main">
              <a:ext uri="{FF2B5EF4-FFF2-40B4-BE49-F238E27FC236}">
                <a16:creationId xmlns:a16="http://schemas.microsoft.com/office/drawing/2014/main" id="{B861705E-9BD3-4B84-9E04-2CDA58AC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830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Atividade digital para dois jogadores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5E12FE-5F68-4DB7-9AF1-22E15467CC6C}"/>
              </a:ext>
            </a:extLst>
          </p:cNvPr>
          <p:cNvGraphicFramePr/>
          <p:nvPr/>
        </p:nvGraphicFramePr>
        <p:xfrm>
          <a:off xmlns:a="http://schemas.openxmlformats.org/drawingml/2006/main" x="723900" y="3038475"/>
          <a:ext xmlns:a="http://schemas.openxmlformats.org/drawingml/2006/main" cx="8305800" cy="31813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477000"/>
                <a:gridCol w="1828800"/>
              </a:tblGrid>
              <a:tr h="438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Integrante</a:t>
                      </a:r>
                    </a:p>
                  </a:txBody>
                  <a:tcPr marL="114300" marR="95250" marT="57150" marB="57150" anchor="ctr"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>
                      <a:solidFill>
                        <a:srgbClr val="BBBBBB"/>
                      </a:solidFill>
                      <a:prstDash val="soli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0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RA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T w="9525">
                      <a:solidFill>
                        <a:srgbClr val="BBBBBB"/>
                      </a:solidFill>
                      <a:prstDash val="soli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0A4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Vitor Hugo do Prado</a:t>
                      </a:r>
                    </a:p>
                  </a:txBody>
                  <a:tcPr marL="114300" marR="95250" marT="57150" marB="57150" anchor="ctr"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2618109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Eduardo Shioga</a:t>
                      </a:r>
                    </a:p>
                  </a:txBody>
                  <a:tcPr marL="114300" marR="95250" marT="57150" marB="57150" anchor="ctr"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2565579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Arthur Simão Gimenes Dalio Pereira</a:t>
                      </a:r>
                    </a:p>
                  </a:txBody>
                  <a:tcPr marL="114300" marR="95250" marT="57150" marB="57150" anchor="ctr"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2565544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João Vitor Taques Marques</a:t>
                      </a:r>
                    </a:p>
                  </a:txBody>
                  <a:tcPr marL="114300" marR="95250" marT="57150" marB="57150" anchor="ctr"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2648156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João Vitor de Menezes Aguiar</a:t>
                      </a:r>
                    </a:p>
                  </a:txBody>
                  <a:tcPr marL="114300" marR="95250" marT="57150" marB="57150" anchor="ctr"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2649349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33657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EEB70A-15BD-4891-8E8E-36CEF09726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73d86bf31f4035"/>
          <a:srcRect xmlns:a="http://schemas.openxmlformats.org/drawingml/2006/main" l="0" t="0" r="0" b="88889"/>
          <a:stretch xmlns:a="http://schemas.openxmlformats.org/drawingml/2006/main"/>
        </p:blipFill>
        <p:spPr>
          <a:xfrm xmlns:a="http://schemas.openxmlformats.org/drawingml/2006/main">
            <a:off x="0" y="0"/>
            <a:ext cx="9753600" cy="812797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A4CFF-D062-47EB-A3E4-F4997DCDC5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55acb765734a99"/>
          <a:srcRect xmlns:a="http://schemas.openxmlformats.org/drawingml/2006/main" l="1938" t="95607" r="2132" b="3876"/>
          <a:stretch xmlns:a="http://schemas.openxmlformats.org/drawingml/2006/main"/>
        </p:blipFill>
        <p:spPr>
          <a:xfrm xmlns:a="http://schemas.openxmlformats.org/drawingml/2006/main">
            <a:off x="190500" y="6657975"/>
            <a:ext cx="9372600" cy="419100"/>
          </a:xfrm>
          <a:prstGeom xmlns:a="http://schemas.openxmlformats.org/drawingml/2006/main" prst="rect">
            <a:avLst/>
          </a:prstGeom>
        </p:spPr>
      </p:pic>
      <p:sp>
        <p:nvSpPr>
          <p:cNvPr id="3" name="texto-4">
            <a:extLst xmlns:a="http://schemas.openxmlformats.org/drawingml/2006/main">
              <a:ext uri="{FF2B5EF4-FFF2-40B4-BE49-F238E27FC236}">
                <a16:creationId xmlns:a16="http://schemas.microsoft.com/office/drawing/2014/main" id="{689D3714-2182-4615-9E9F-F3B2186E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715125"/>
            <a:ext cx="904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Disciplina: Certificadora de Competência I</a:t>
            </a:r>
          </a:p>
        </p:txBody>
      </p:sp>
      <p:sp>
        <p:nvSpPr>
          <p:cNvPr id="4" name="texto-5">
            <a:extLst xmlns:a="http://schemas.openxmlformats.org/drawingml/2006/main">
              <a:ext uri="{FF2B5EF4-FFF2-40B4-BE49-F238E27FC236}">
                <a16:creationId xmlns:a16="http://schemas.microsoft.com/office/drawing/2014/main" id="{B6E750BD-72F0-43E3-BB19-BFA1FD75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33475"/>
            <a:ext cx="84296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0070C0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070C0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0070C0"/>
                </a:solidFill>
                <a:latin typeface="Nimbus Sans"/>
                <a:ea typeface="Nimbus Sans"/>
                <a:cs typeface="Nimbus Sans"/>
              </a:rPr>
              <a:t>Descrição do sistema</a:t>
            </a:r>
          </a:p>
        </p:txBody>
      </p:sp>
      <p:sp>
        <p:nvSpPr>
          <p:cNvPr id="5" name="texto-6">
            <a:extLst xmlns:a="http://schemas.openxmlformats.org/drawingml/2006/main">
              <a:ext uri="{FF2B5EF4-FFF2-40B4-BE49-F238E27FC236}">
                <a16:creationId xmlns:a16="http://schemas.microsoft.com/office/drawing/2014/main" id="{4A28F8EC-8869-476A-9C48-7F736E40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8305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Atividade de inclusão digital voltada ao público idoso.</a:t>
            </a:r>
          </a:p>
        </p:txBody>
      </p:sp>
      <p:sp>
        <p:nvSpPr>
          <p:cNvPr id="6" name="texto-7">
            <a:extLst xmlns:a="http://schemas.openxmlformats.org/drawingml/2006/main">
              <a:ext uri="{FF2B5EF4-FFF2-40B4-BE49-F238E27FC236}">
                <a16:creationId xmlns:a16="http://schemas.microsoft.com/office/drawing/2014/main" id="{1167262C-EA29-448B-8F81-557EAF1F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8305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16 cartas formam 8 pares em um tabuleiro 4 × 4.</a:t>
            </a:r>
          </a:p>
        </p:txBody>
      </p:sp>
      <p:sp>
        <p:nvSpPr>
          <p:cNvPr id="7" name="texto-8">
            <a:extLst xmlns:a="http://schemas.openxmlformats.org/drawingml/2006/main">
              <a:ext uri="{FF2B5EF4-FFF2-40B4-BE49-F238E27FC236}">
                <a16:creationId xmlns:a16="http://schemas.microsoft.com/office/drawing/2014/main" id="{3DCACC06-9733-463D-9B39-5345E0A0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8305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Dois jogadores se alternam. Acertar mantém a vez e soma um ponto. Errar passa a vez.</a:t>
            </a:r>
          </a:p>
        </p:txBody>
      </p:sp>
      <p:sp>
        <p:nvSpPr>
          <p:cNvPr id="8" name="texto-9">
            <a:extLst xmlns:a="http://schemas.openxmlformats.org/drawingml/2006/main">
              <a:ext uri="{FF2B5EF4-FFF2-40B4-BE49-F238E27FC236}">
                <a16:creationId xmlns:a16="http://schemas.microsoft.com/office/drawing/2014/main" id="{0CC52E3E-775A-4D2A-AE10-87459B70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8305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Vence quem tiver mais pares. O placar de 4 a 4 termina empatado.</a:t>
            </a:r>
          </a:p>
        </p:txBody>
      </p:sp>
    </p:spTree>
    <p:extLst>
      <p:ext uri="{BB962C8B-B14F-4D97-AF65-F5344CB8AC3E}">
        <p14:creationId xmlns:p14="http://schemas.microsoft.com/office/powerpoint/2010/main" val="5509833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F25D66-5078-455B-85BD-E0DF10FC27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27b0b8bc1f4049"/>
          <a:srcRect xmlns:a="http://schemas.openxmlformats.org/drawingml/2006/main" l="0" t="0" r="0" b="88889"/>
          <a:stretch xmlns:a="http://schemas.openxmlformats.org/drawingml/2006/main"/>
        </p:blipFill>
        <p:spPr>
          <a:xfrm xmlns:a="http://schemas.openxmlformats.org/drawingml/2006/main">
            <a:off x="0" y="0"/>
            <a:ext cx="9753600" cy="812797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CA7FF-4BB7-41C1-AF00-4FCB4EE3E0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a332a60fd3477f"/>
          <a:srcRect xmlns:a="http://schemas.openxmlformats.org/drawingml/2006/main" l="1938" t="95607" r="2132" b="3876"/>
          <a:stretch xmlns:a="http://schemas.openxmlformats.org/drawingml/2006/main"/>
        </p:blipFill>
        <p:spPr>
          <a:xfrm xmlns:a="http://schemas.openxmlformats.org/drawingml/2006/main">
            <a:off x="190500" y="6657975"/>
            <a:ext cx="9372600" cy="419100"/>
          </a:xfrm>
          <a:prstGeom xmlns:a="http://schemas.openxmlformats.org/drawingml/2006/main" prst="rect">
            <a:avLst/>
          </a:prstGeom>
        </p:spPr>
      </p:pic>
      <p:sp>
        <p:nvSpPr>
          <p:cNvPr id="3" name="texto-10">
            <a:extLst xmlns:a="http://schemas.openxmlformats.org/drawingml/2006/main">
              <a:ext uri="{FF2B5EF4-FFF2-40B4-BE49-F238E27FC236}">
                <a16:creationId xmlns:a16="http://schemas.microsoft.com/office/drawing/2014/main" id="{ACEE45FF-8816-4A86-9988-E39DDC64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715125"/>
            <a:ext cx="904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Disciplina: Certificadora de Competência I</a:t>
            </a:r>
          </a:p>
        </p:txBody>
      </p:sp>
      <p:sp>
        <p:nvSpPr>
          <p:cNvPr id="4" name="texto-11">
            <a:extLst xmlns:a="http://schemas.openxmlformats.org/drawingml/2006/main">
              <a:ext uri="{FF2B5EF4-FFF2-40B4-BE49-F238E27FC236}">
                <a16:creationId xmlns:a16="http://schemas.microsoft.com/office/drawing/2014/main" id="{264111A1-A24C-4D23-AA68-26634D1B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33475"/>
            <a:ext cx="84296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0070C0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070C0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0070C0"/>
                </a:solidFill>
                <a:latin typeface="Nimbus Sans"/>
                <a:ea typeface="Nimbus Sans"/>
                <a:cs typeface="Nimbus Sans"/>
              </a:rPr>
              <a:t>Requisitos funcionais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2AEA9-D209-4113-B23E-8A37EC8DE62D}"/>
              </a:ext>
            </a:extLst>
          </p:cNvPr>
          <p:cNvGraphicFramePr/>
          <p:nvPr/>
        </p:nvGraphicFramePr>
        <p:xfrm>
          <a:off xmlns:a="http://schemas.openxmlformats.org/drawingml/2006/main" x="723900" y="2000250"/>
          <a:ext xmlns:a="http://schemas.openxmlformats.org/drawingml/2006/main" cx="8305800" cy="39624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19125"/>
                <a:gridCol w="5400675"/>
                <a:gridCol w="2286000"/>
              </a:tblGrid>
              <a:tr h="438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RF</a:t>
                      </a:r>
                    </a:p>
                  </a:txBody>
                  <a:tcPr marL="114300" marR="95250" marT="57150" marB="57150" anchor="ctr"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>
                      <a:solidFill>
                        <a:srgbClr val="BBBBBB"/>
                      </a:solidFill>
                      <a:prstDash val="soli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0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Funcionalidade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T w="9525">
                      <a:solidFill>
                        <a:srgbClr val="BBBBBB"/>
                      </a:solidFill>
                      <a:prstDash val="soli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0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Responsável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T w="9525">
                      <a:solidFill>
                        <a:srgbClr val="BBBBBB"/>
                      </a:solidFill>
                      <a:prstDash val="soli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0A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01</a:t>
                      </a:r>
                    </a:p>
                  </a:txBody>
                  <a:tcPr marL="114300" marR="95250" marT="57150" marB="57150" anchor="ctr"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Criar e embaralhar o tabuleiro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Vitor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02</a:t>
                      </a:r>
                    </a:p>
                  </a:txBody>
                  <a:tcPr marL="114300" marR="95250" marT="57150" marB="57150" anchor="ctr"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Escolher cartas e validar o par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Arthur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03</a:t>
                      </a:r>
                    </a:p>
                  </a:txBody>
                  <a:tcPr marL="114300" marR="95250" marT="57150" marB="57150" anchor="ctr"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Controlar a vez dos jogadores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Eduardo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04</a:t>
                      </a:r>
                    </a:p>
                  </a:txBody>
                  <a:tcPr marL="114300" marR="95250" marT="57150" marB="57150" anchor="ctr"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Contar pontos e tentativas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João Vitor Taques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05</a:t>
                      </a:r>
                    </a:p>
                  </a:txBody>
                  <a:tcPr marL="114300" marR="95250" marT="57150" marB="57150" anchor="ctr"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Encerrar e apurar o vencedor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Menezes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1480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1095B-C1C6-43AC-9F5D-695D27A0E9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0f2c18bd9c4782"/>
          <a:srcRect xmlns:a="http://schemas.openxmlformats.org/drawingml/2006/main" l="0" t="0" r="0" b="88889"/>
          <a:stretch xmlns:a="http://schemas.openxmlformats.org/drawingml/2006/main"/>
        </p:blipFill>
        <p:spPr>
          <a:xfrm xmlns:a="http://schemas.openxmlformats.org/drawingml/2006/main">
            <a:off x="0" y="0"/>
            <a:ext cx="9753600" cy="812797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BC909-75E7-4BDA-9B59-CE150CECF1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74638b8f4f4da5"/>
          <a:srcRect xmlns:a="http://schemas.openxmlformats.org/drawingml/2006/main" l="1938" t="95607" r="2132" b="3876"/>
          <a:stretch xmlns:a="http://schemas.openxmlformats.org/drawingml/2006/main"/>
        </p:blipFill>
        <p:spPr>
          <a:xfrm xmlns:a="http://schemas.openxmlformats.org/drawingml/2006/main">
            <a:off x="190500" y="6657975"/>
            <a:ext cx="9372600" cy="419100"/>
          </a:xfrm>
          <a:prstGeom xmlns:a="http://schemas.openxmlformats.org/drawingml/2006/main" prst="rect">
            <a:avLst/>
          </a:prstGeom>
        </p:spPr>
      </p:pic>
      <p:sp>
        <p:nvSpPr>
          <p:cNvPr id="3" name="texto-12">
            <a:extLst xmlns:a="http://schemas.openxmlformats.org/drawingml/2006/main">
              <a:ext uri="{FF2B5EF4-FFF2-40B4-BE49-F238E27FC236}">
                <a16:creationId xmlns:a16="http://schemas.microsoft.com/office/drawing/2014/main" id="{8C3D610C-DF37-45E9-B99F-7811B08B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715125"/>
            <a:ext cx="904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Disciplina: Certificadora de Competência I</a:t>
            </a:r>
          </a:p>
        </p:txBody>
      </p:sp>
      <p:sp>
        <p:nvSpPr>
          <p:cNvPr id="4" name="texto-13">
            <a:extLst xmlns:a="http://schemas.openxmlformats.org/drawingml/2006/main">
              <a:ext uri="{FF2B5EF4-FFF2-40B4-BE49-F238E27FC236}">
                <a16:creationId xmlns:a16="http://schemas.microsoft.com/office/drawing/2014/main" id="{1CA17D9F-917A-4028-87F7-A37D15BA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33475"/>
            <a:ext cx="84296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0070C0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070C0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0070C0"/>
                </a:solidFill>
                <a:latin typeface="Nimbus Sans"/>
                <a:ea typeface="Nimbus Sans"/>
                <a:cs typeface="Nimbus Sans"/>
              </a:rPr>
              <a:t>Ferramentas utilizadas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2162F-E0D2-4481-9A45-DBA7EE0D62A1}"/>
              </a:ext>
            </a:extLst>
          </p:cNvPr>
          <p:cNvGraphicFramePr/>
          <p:nvPr/>
        </p:nvGraphicFramePr>
        <p:xfrm>
          <a:off xmlns:a="http://schemas.openxmlformats.org/drawingml/2006/main" x="723900" y="1952625"/>
          <a:ext xmlns:a="http://schemas.openxmlformats.org/drawingml/2006/main" cx="8305800" cy="41719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81250"/>
                <a:gridCol w="5924550"/>
              </a:tblGrid>
              <a:tr h="438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Ferramenta</a:t>
                      </a:r>
                    </a:p>
                  </a:txBody>
                  <a:tcPr marL="114300" marR="95250" marT="57150" marB="57150" anchor="ctr"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>
                      <a:solidFill>
                        <a:srgbClr val="BBBBBB"/>
                      </a:solidFill>
                      <a:prstDash val="soli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0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Aplicação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T w="9525">
                      <a:solidFill>
                        <a:srgbClr val="BBBBBB"/>
                      </a:solidFill>
                      <a:prstDash val="soli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0A4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</a:t>
                      </a:r>
                    </a:p>
                  </a:txBody>
                  <a:tcPr marL="114300" marR="95250" marT="57150" marB="57150" anchor="ctr"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Regras do jogo e estruturas de dados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HTML, CSS e JavaScript</a:t>
                      </a:r>
                    </a:p>
                  </a:txBody>
                  <a:tcPr marL="114300" marR="95250" marT="57150" marB="57150" anchor="ctr"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Interface e comunicação com o C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Emscripten e WebAssembly</a:t>
                      </a:r>
                    </a:p>
                  </a:txBody>
                  <a:tcPr marL="114300" marR="95250" marT="57150" marB="57150" anchor="ctr"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Compilação e execução no navegador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Git e GitHub</a:t>
                      </a:r>
                    </a:p>
                  </a:txBody>
                  <a:tcPr marL="114300" marR="95250" marT="57150" marB="57150" anchor="ctr"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Versionamento e colaboração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GitHub Pages</a:t>
                      </a:r>
                    </a:p>
                  </a:txBody>
                  <a:tcPr marL="114300" marR="95250" marT="57150" marB="57150" anchor="ctr"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Publicação dos arquivos da pasta docs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Python</a:t>
                      </a:r>
                    </a:p>
                  </a:txBody>
                  <a:tcPr marL="114300" marR="95250" marT="57150" marB="57150" anchor="ctr"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Servidor HTTP para a demonstração local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56214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98D000-FDA1-4610-B818-04DF013DDF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e805aa0a1f4a38"/>
          <a:srcRect xmlns:a="http://schemas.openxmlformats.org/drawingml/2006/main" l="0" t="0" r="0" b="88889"/>
          <a:stretch xmlns:a="http://schemas.openxmlformats.org/drawingml/2006/main"/>
        </p:blipFill>
        <p:spPr>
          <a:xfrm xmlns:a="http://schemas.openxmlformats.org/drawingml/2006/main">
            <a:off x="0" y="0"/>
            <a:ext cx="9753600" cy="812797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02959-DB63-4E74-9BC5-B5FAC19EC3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ec3fb0875f4b50"/>
          <a:srcRect xmlns:a="http://schemas.openxmlformats.org/drawingml/2006/main" l="1938" t="95607" r="2132" b="3876"/>
          <a:stretch xmlns:a="http://schemas.openxmlformats.org/drawingml/2006/main"/>
        </p:blipFill>
        <p:spPr>
          <a:xfrm xmlns:a="http://schemas.openxmlformats.org/drawingml/2006/main">
            <a:off x="190500" y="6657975"/>
            <a:ext cx="9372600" cy="419100"/>
          </a:xfrm>
          <a:prstGeom xmlns:a="http://schemas.openxmlformats.org/drawingml/2006/main" prst="rect">
            <a:avLst/>
          </a:prstGeom>
        </p:spPr>
      </p:pic>
      <p:sp>
        <p:nvSpPr>
          <p:cNvPr id="3" name="texto-14">
            <a:extLst xmlns:a="http://schemas.openxmlformats.org/drawingml/2006/main">
              <a:ext uri="{FF2B5EF4-FFF2-40B4-BE49-F238E27FC236}">
                <a16:creationId xmlns:a16="http://schemas.microsoft.com/office/drawing/2014/main" id="{DF42DDC2-4BAC-4F86-8436-0C801C58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715125"/>
            <a:ext cx="904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Disciplina: Certificadora de Competência I</a:t>
            </a:r>
          </a:p>
        </p:txBody>
      </p:sp>
      <p:sp>
        <p:nvSpPr>
          <p:cNvPr id="4" name="texto-15">
            <a:extLst xmlns:a="http://schemas.openxmlformats.org/drawingml/2006/main">
              <a:ext uri="{FF2B5EF4-FFF2-40B4-BE49-F238E27FC236}">
                <a16:creationId xmlns:a16="http://schemas.microsoft.com/office/drawing/2014/main" id="{52E11E1F-3C84-4547-A77C-0A6C9779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33475"/>
            <a:ext cx="84296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0070C0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070C0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0070C0"/>
                </a:solidFill>
                <a:latin typeface="Nimbus Sans"/>
                <a:ea typeface="Nimbus Sans"/>
                <a:cs typeface="Nimbus Sans"/>
              </a:rPr>
              <a:t>Cronograma de desenvolvimento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38A254-4EAD-4C7E-BA9A-4436582A063D}"/>
              </a:ext>
            </a:extLst>
          </p:cNvPr>
          <p:cNvGraphicFramePr/>
          <p:nvPr/>
        </p:nvGraphicFramePr>
        <p:xfrm>
          <a:off xmlns:a="http://schemas.openxmlformats.org/drawingml/2006/main" x="723900" y="2000250"/>
          <a:ext xmlns:a="http://schemas.openxmlformats.org/drawingml/2006/main" cx="8305800" cy="4076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524000"/>
                <a:gridCol w="3238500"/>
                <a:gridCol w="1828800"/>
                <a:gridCol w="1714500"/>
              </a:tblGrid>
              <a:tr h="4381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Período</a:t>
                      </a:r>
                    </a:p>
                  </a:txBody>
                  <a:tcPr marL="114300" marR="95250" marT="28575" marB="28575" anchor="ctr"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>
                      <a:solidFill>
                        <a:srgbClr val="BBBBBB"/>
                      </a:solidFill>
                      <a:prstDash val="soli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0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Atividade</a:t>
                      </a:r>
                    </a:p>
                  </a:txBody>
                  <a:tcPr marL="114300" marR="95250" marT="28575" marB="28575" anchor="ctr">
                    <a:lnR w="9525">
                      <a:solidFill>
                        <a:srgbClr val="BBBBBB"/>
                      </a:solidFill>
                      <a:prstDash val="solid"/>
                    </a:lnR>
                    <a:lnT w="9525">
                      <a:solidFill>
                        <a:srgbClr val="BBBBBB"/>
                      </a:solidFill>
                      <a:prstDash val="soli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0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Responsável</a:t>
                      </a:r>
                    </a:p>
                  </a:txBody>
                  <a:tcPr marL="114300" marR="95250" marT="28575" marB="28575" anchor="ctr">
                    <a:lnR w="9525">
                      <a:solidFill>
                        <a:srgbClr val="BBBBBB"/>
                      </a:solidFill>
                      <a:prstDash val="solid"/>
                    </a:lnR>
                    <a:lnT w="9525">
                      <a:solidFill>
                        <a:srgbClr val="BBBBBB"/>
                      </a:solidFill>
                      <a:prstDash val="soli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0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Situação</a:t>
                      </a:r>
                    </a:p>
                  </a:txBody>
                  <a:tcPr marL="114300" marR="95250" marT="28575" marB="28575" anchor="ctr">
                    <a:lnR w="9525">
                      <a:solidFill>
                        <a:srgbClr val="BBBBBB"/>
                      </a:solidFill>
                      <a:prstDash val="solid"/>
                    </a:lnR>
                    <a:lnT w="9525">
                      <a:solidFill>
                        <a:srgbClr val="BBBBBB"/>
                      </a:solidFill>
                      <a:prstDash val="soli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0A4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31/08 a 03/09</a:t>
                      </a:r>
                    </a:p>
                  </a:txBody>
                  <a:tcPr marL="114300" marR="95250" marT="28575" marB="28575" anchor="ctr"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Proposta inicial</a:t>
                      </a:r>
                    </a:p>
                  </a:txBody>
                  <a:tcPr marL="114300" marR="95250" marT="28575" marB="28575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Equipe e Vitor</a:t>
                      </a:r>
                    </a:p>
                  </a:txBody>
                  <a:tcPr marL="114300" marR="95250" marT="28575" marB="28575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Registrado</a:t>
                      </a:r>
                    </a:p>
                  </a:txBody>
                  <a:tcPr marL="114300" marR="95250" marT="28575" marB="28575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13 a 23/09</a:t>
                      </a:r>
                    </a:p>
                  </a:txBody>
                  <a:tcPr marL="114300" marR="95250" marT="28575" marB="28575" anchor="ctr"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Divisão dos RFs e código base</a:t>
                      </a:r>
                    </a:p>
                  </a:txBody>
                  <a:tcPr marL="114300" marR="95250" marT="28575" marB="28575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Equipe e Vitor</a:t>
                      </a:r>
                    </a:p>
                  </a:txBody>
                  <a:tcPr marL="114300" marR="95250" marT="28575" marB="28575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Registrado</a:t>
                      </a:r>
                    </a:p>
                  </a:txBody>
                  <a:tcPr marL="114300" marR="95250" marT="28575" marB="28575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08/10</a:t>
                      </a:r>
                    </a:p>
                  </a:txBody>
                  <a:tcPr marL="114300" marR="95250" marT="28575" marB="28575" anchor="ctr"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Repositório e versão web</a:t>
                      </a:r>
                    </a:p>
                  </a:txBody>
                  <a:tcPr marL="114300" marR="95250" marT="28575" marB="28575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Menezes</a:t>
                      </a:r>
                    </a:p>
                  </a:txBody>
                  <a:tcPr marL="114300" marR="95250" marT="28575" marB="28575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Registrado</a:t>
                      </a:r>
                    </a:p>
                  </a:txBody>
                  <a:tcPr marL="114300" marR="95250" marT="28575" marB="28575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15/10</a:t>
                      </a:r>
                    </a:p>
                  </a:txBody>
                  <a:tcPr marL="114300" marR="95250" marT="28575" marB="28575" anchor="ctr"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RF01 a RF05 e testes locais</a:t>
                      </a:r>
                    </a:p>
                  </a:txBody>
                  <a:tcPr marL="114300" marR="95250" marT="28575" marB="28575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Equipe</a:t>
                      </a:r>
                    </a:p>
                  </a:txBody>
                  <a:tcPr marL="114300" marR="95250" marT="28575" marB="28575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Testado</a:t>
                      </a:r>
                    </a:p>
                    <a:p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localmente</a:t>
                      </a:r>
                    </a:p>
                  </a:txBody>
                  <a:tcPr marL="114300" marR="95250" marT="28575" marB="28575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15 e 16/10</a:t>
                      </a:r>
                    </a:p>
                  </a:txBody>
                  <a:tcPr marL="114300" marR="95250" marT="28575" marB="28575" anchor="ctr"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Revisão final e publicação</a:t>
                      </a:r>
                    </a:p>
                  </a:txBody>
                  <a:tcPr marL="114300" marR="95250" marT="28575" marB="28575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Equipe</a:t>
                      </a:r>
                    </a:p>
                  </a:txBody>
                  <a:tcPr marL="114300" marR="95250" marT="28575" marB="28575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Previsto</a:t>
                      </a:r>
                    </a:p>
                  </a:txBody>
                  <a:tcPr marL="114300" marR="95250" marT="28575" marB="28575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16/10</a:t>
                      </a:r>
                    </a:p>
                    <a:p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até 18h40</a:t>
                      </a:r>
                    </a:p>
                  </a:txBody>
                  <a:tcPr marL="114300" marR="95250" marT="28575" marB="28575" anchor="ctr"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PDF no Moodle e apresentação</a:t>
                      </a:r>
                    </a:p>
                  </a:txBody>
                  <a:tcPr marL="114300" marR="95250" marT="28575" marB="28575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Equipe</a:t>
                      </a:r>
                    </a:p>
                  </a:txBody>
                  <a:tcPr marL="114300" marR="95250" marT="28575" marB="28575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Previsto</a:t>
                      </a:r>
                    </a:p>
                  </a:txBody>
                  <a:tcPr marL="114300" marR="95250" marT="28575" marB="28575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o-16">
            <a:extLst xmlns:a="http://schemas.openxmlformats.org/drawingml/2006/main">
              <a:ext uri="{FF2B5EF4-FFF2-40B4-BE49-F238E27FC236}">
                <a16:creationId xmlns:a16="http://schemas.microsoft.com/office/drawing/2014/main" id="{9D7E361C-EEE5-4C74-A425-3D8865C8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847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444444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444444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444444"/>
                </a:solidFill>
                <a:latin typeface="Nimbus Sans"/>
                <a:ea typeface="Nimbus Sans"/>
                <a:cs typeface="Nimbus Sans"/>
              </a:rPr>
              <a:t>Situação em 15/10/2026. Publicação e entrega ainda previstas.</a:t>
            </a:r>
          </a:p>
        </p:txBody>
      </p:sp>
    </p:spTree>
    <p:extLst>
      <p:ext uri="{BB962C8B-B14F-4D97-AF65-F5344CB8AC3E}">
        <p14:creationId xmlns:p14="http://schemas.microsoft.com/office/powerpoint/2010/main" val="8738082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D24D4C1-D77E-42ED-A25E-2CB4465DD0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f29c93b3ec4ba1"/>
          <a:srcRect xmlns:a="http://schemas.openxmlformats.org/drawingml/2006/main" l="0" t="0" r="0" b="88889"/>
          <a:stretch xmlns:a="http://schemas.openxmlformats.org/drawingml/2006/main"/>
        </p:blipFill>
        <p:spPr>
          <a:xfrm xmlns:a="http://schemas.openxmlformats.org/drawingml/2006/main">
            <a:off x="0" y="0"/>
            <a:ext cx="9753600" cy="812797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F77DB-2F52-4B20-AAB3-D805BEBD82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6566a75e9f4c22"/>
          <a:srcRect xmlns:a="http://schemas.openxmlformats.org/drawingml/2006/main" l="1938" t="95607" r="2132" b="3876"/>
          <a:stretch xmlns:a="http://schemas.openxmlformats.org/drawingml/2006/main"/>
        </p:blipFill>
        <p:spPr>
          <a:xfrm xmlns:a="http://schemas.openxmlformats.org/drawingml/2006/main">
            <a:off x="190500" y="6657975"/>
            <a:ext cx="9372600" cy="419100"/>
          </a:xfrm>
          <a:prstGeom xmlns:a="http://schemas.openxmlformats.org/drawingml/2006/main" prst="rect">
            <a:avLst/>
          </a:prstGeom>
        </p:spPr>
      </p:pic>
      <p:sp>
        <p:nvSpPr>
          <p:cNvPr id="3" name="texto-17">
            <a:extLst xmlns:a="http://schemas.openxmlformats.org/drawingml/2006/main">
              <a:ext uri="{FF2B5EF4-FFF2-40B4-BE49-F238E27FC236}">
                <a16:creationId xmlns:a16="http://schemas.microsoft.com/office/drawing/2014/main" id="{933299BC-0FA0-4E75-A804-345E7468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715125"/>
            <a:ext cx="904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Disciplina: Certificadora de Competência I</a:t>
            </a:r>
          </a:p>
        </p:txBody>
      </p:sp>
      <p:sp>
        <p:nvSpPr>
          <p:cNvPr id="4" name="texto-18">
            <a:extLst xmlns:a="http://schemas.openxmlformats.org/drawingml/2006/main">
              <a:ext uri="{FF2B5EF4-FFF2-40B4-BE49-F238E27FC236}">
                <a16:creationId xmlns:a16="http://schemas.microsoft.com/office/drawing/2014/main" id="{B74FE8D5-669E-40FD-AAB6-3D164210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33475"/>
            <a:ext cx="84296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0070C0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070C0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0070C0"/>
                </a:solidFill>
                <a:latin typeface="Nimbus Sans"/>
                <a:ea typeface="Nimbus Sans"/>
                <a:cs typeface="Nimbus Sans"/>
              </a:rPr>
              <a:t>Diagrama de casos de uso</a:t>
            </a:r>
          </a:p>
        </p:txBody>
      </p:sp>
      <p:sp>
        <p:nvSpPr>
          <p:cNvPr id="5" name="diagrama-19">
            <a:extLst xmlns:a="http://schemas.openxmlformats.org/drawingml/2006/main">
              <a:ext uri="{FF2B5EF4-FFF2-40B4-BE49-F238E27FC236}">
                <a16:creationId xmlns:a16="http://schemas.microsoft.com/office/drawing/2014/main" id="{809C8DF8-992C-43DB-8715-2B22E114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957388"/>
            <a:ext cx="5384006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6" name="texto-20">
            <a:extLst xmlns:a="http://schemas.openxmlformats.org/drawingml/2006/main">
              <a:ext uri="{FF2B5EF4-FFF2-40B4-BE49-F238E27FC236}">
                <a16:creationId xmlns:a16="http://schemas.microsoft.com/office/drawing/2014/main" id="{A1FFB875-997E-49B0-A6E6-5AFFF0BC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594" y="2066687"/>
            <a:ext cx="2003822" cy="24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594" b="1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defRPr sz="1594" b="1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594" b="1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Jogo da memória</a:t>
            </a:r>
          </a:p>
        </p:txBody>
      </p:sp>
      <p:sp>
        <p:nvSpPr>
          <p:cNvPr id="7" name="diagrama-21">
            <a:extLst xmlns:a="http://schemas.openxmlformats.org/drawingml/2006/main">
              <a:ext uri="{FF2B5EF4-FFF2-40B4-BE49-F238E27FC236}">
                <a16:creationId xmlns:a16="http://schemas.microsoft.com/office/drawing/2014/main" id="{D8919F85-E0C4-4F17-90C2-A54DC7A1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55194"/>
            <a:ext cx="404813" cy="4048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8" name="relacao-22">
            <a:extLst xmlns:a="http://schemas.openxmlformats.org/drawingml/2006/main">
              <a:ext uri="{FF2B5EF4-FFF2-40B4-BE49-F238E27FC236}">
                <a16:creationId xmlns:a16="http://schemas.microsoft.com/office/drawing/2014/main" id="{43DF4BB1-F8A8-469F-8B51-FDE5B06E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840706" y="3860006"/>
            <a:ext cx="8096" cy="6881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9" name="relacao-23">
            <a:extLst xmlns:a="http://schemas.openxmlformats.org/drawingml/2006/main">
              <a:ext uri="{FF2B5EF4-FFF2-40B4-BE49-F238E27FC236}">
                <a16:creationId xmlns:a16="http://schemas.microsoft.com/office/drawing/2014/main" id="{BC3CF2B4-88F2-4435-A849-E268798E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11605" y="4094798"/>
            <a:ext cx="858203" cy="80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0" name="relacao-24">
            <a:extLst xmlns:a="http://schemas.openxmlformats.org/drawingml/2006/main">
              <a:ext uri="{FF2B5EF4-FFF2-40B4-BE49-F238E27FC236}">
                <a16:creationId xmlns:a16="http://schemas.microsoft.com/office/drawing/2014/main" id="{C2DE77E7-962E-44CE-A063-D1F06945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16856" y="4548188"/>
            <a:ext cx="323850" cy="4048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1" name="relacao-25">
            <a:extLst xmlns:a="http://schemas.openxmlformats.org/drawingml/2006/main">
              <a:ext uri="{FF2B5EF4-FFF2-40B4-BE49-F238E27FC236}">
                <a16:creationId xmlns:a16="http://schemas.microsoft.com/office/drawing/2014/main" id="{750327DF-1C26-44A9-BCBC-28037FD4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840706" y="4548188"/>
            <a:ext cx="323850" cy="4048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2" name="texto-26">
            <a:extLst xmlns:a="http://schemas.openxmlformats.org/drawingml/2006/main">
              <a:ext uri="{FF2B5EF4-FFF2-40B4-BE49-F238E27FC236}">
                <a16:creationId xmlns:a16="http://schemas.microsoft.com/office/drawing/2014/main" id="{9293CEF0-CD60-45CC-A47D-9E735809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763" y="5078492"/>
            <a:ext cx="999887" cy="24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594" b="1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defRPr sz="1594" b="1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594" b="1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Jogador</a:t>
            </a:r>
          </a:p>
        </p:txBody>
      </p:sp>
      <p:sp>
        <p:nvSpPr>
          <p:cNvPr id="13" name="texto-27">
            <a:extLst xmlns:a="http://schemas.openxmlformats.org/drawingml/2006/main">
              <a:ext uri="{FF2B5EF4-FFF2-40B4-BE49-F238E27FC236}">
                <a16:creationId xmlns:a16="http://schemas.microsoft.com/office/drawing/2014/main" id="{A597C450-0DD3-44B1-87BE-E6CDAF36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686" y="5367528"/>
            <a:ext cx="784041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402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defRPr sz="1402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402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1 ou 2</a:t>
            </a:r>
          </a:p>
        </p:txBody>
      </p:sp>
      <p:sp>
        <p:nvSpPr>
          <p:cNvPr id="14" name="relacao-28">
            <a:extLst xmlns:a="http://schemas.openxmlformats.org/drawingml/2006/main">
              <a:ext uri="{FF2B5EF4-FFF2-40B4-BE49-F238E27FC236}">
                <a16:creationId xmlns:a16="http://schemas.microsoft.com/office/drawing/2014/main" id="{42B9F080-AFB3-4DAC-8CC4-61DA4F0B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269808" y="4094798"/>
            <a:ext cx="704374" cy="80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5" name="relacao-29">
            <a:extLst xmlns:a="http://schemas.openxmlformats.org/drawingml/2006/main">
              <a:ext uri="{FF2B5EF4-FFF2-40B4-BE49-F238E27FC236}">
                <a16:creationId xmlns:a16="http://schemas.microsoft.com/office/drawing/2014/main" id="{F77D8F46-EA77-42A8-BB38-14D2AF46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4181" y="2864168"/>
            <a:ext cx="8096" cy="25098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6" name="relacao-30">
            <a:extLst xmlns:a="http://schemas.openxmlformats.org/drawingml/2006/main">
              <a:ext uri="{FF2B5EF4-FFF2-40B4-BE49-F238E27FC236}">
                <a16:creationId xmlns:a16="http://schemas.microsoft.com/office/drawing/2014/main" id="{F026084F-5D6C-40E9-A15F-560A1E38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4181" y="2864168"/>
            <a:ext cx="607219" cy="80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7" name="relacao-31">
            <a:extLst xmlns:a="http://schemas.openxmlformats.org/drawingml/2006/main">
              <a:ext uri="{FF2B5EF4-FFF2-40B4-BE49-F238E27FC236}">
                <a16:creationId xmlns:a16="http://schemas.microsoft.com/office/drawing/2014/main" id="{4318C382-D1BD-4966-88DD-0D477E3D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4181" y="4119086"/>
            <a:ext cx="607219" cy="80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8" name="relacao-32">
            <a:extLst xmlns:a="http://schemas.openxmlformats.org/drawingml/2006/main">
              <a:ext uri="{FF2B5EF4-FFF2-40B4-BE49-F238E27FC236}">
                <a16:creationId xmlns:a16="http://schemas.microsoft.com/office/drawing/2014/main" id="{987A8B59-6067-4ABD-8211-3A29F926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4181" y="5374005"/>
            <a:ext cx="607219" cy="80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9" name="diagrama-33">
            <a:extLst xmlns:a="http://schemas.openxmlformats.org/drawingml/2006/main">
              <a:ext uri="{FF2B5EF4-FFF2-40B4-BE49-F238E27FC236}">
                <a16:creationId xmlns:a16="http://schemas.microsoft.com/office/drawing/2014/main" id="{B55FF6AE-004B-4EBB-A22B-FDA3DC30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4606"/>
            <a:ext cx="1862138" cy="6072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0" name="texto-34">
            <a:extLst xmlns:a="http://schemas.openxmlformats.org/drawingml/2006/main">
              <a:ext uri="{FF2B5EF4-FFF2-40B4-BE49-F238E27FC236}">
                <a16:creationId xmlns:a16="http://schemas.microsoft.com/office/drawing/2014/main" id="{A2FF126A-AC06-4BA7-9CA3-0A7C4E93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501" y="2768632"/>
            <a:ext cx="1777937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402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defRPr sz="1402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402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Iniciar partida</a:t>
            </a:r>
          </a:p>
        </p:txBody>
      </p:sp>
      <p:sp>
        <p:nvSpPr>
          <p:cNvPr id="21" name="diagrama-35">
            <a:extLst xmlns:a="http://schemas.openxmlformats.org/drawingml/2006/main">
              <a:ext uri="{FF2B5EF4-FFF2-40B4-BE49-F238E27FC236}">
                <a16:creationId xmlns:a16="http://schemas.microsoft.com/office/drawing/2014/main" id="{30669B26-302B-44A1-8607-AFCC81AD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19525"/>
            <a:ext cx="1862138" cy="6072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2" name="texto-36">
            <a:extLst xmlns:a="http://schemas.openxmlformats.org/drawingml/2006/main">
              <a:ext uri="{FF2B5EF4-FFF2-40B4-BE49-F238E27FC236}">
                <a16:creationId xmlns:a16="http://schemas.microsoft.com/office/drawing/2014/main" id="{973FFE87-08CE-4E4D-B3A7-400384CA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8284" y="4023550"/>
            <a:ext cx="1888369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402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defRPr sz="1402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402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Registrar jogada</a:t>
            </a:r>
          </a:p>
        </p:txBody>
      </p:sp>
      <p:sp>
        <p:nvSpPr>
          <p:cNvPr id="23" name="diagrama-37">
            <a:extLst xmlns:a="http://schemas.openxmlformats.org/drawingml/2006/main">
              <a:ext uri="{FF2B5EF4-FFF2-40B4-BE49-F238E27FC236}">
                <a16:creationId xmlns:a16="http://schemas.microsoft.com/office/drawing/2014/main" id="{B4B00F4E-3FDF-4069-AE5E-FDDC74E9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074444"/>
            <a:ext cx="1862138" cy="6072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4" name="texto-38">
            <a:extLst xmlns:a="http://schemas.openxmlformats.org/drawingml/2006/main">
              <a:ext uri="{FF2B5EF4-FFF2-40B4-BE49-F238E27FC236}">
                <a16:creationId xmlns:a16="http://schemas.microsoft.com/office/drawing/2014/main" id="{744E36BF-4ED6-4048-9424-304F69C9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8284" y="5278469"/>
            <a:ext cx="1888369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402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defRPr sz="1402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402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Consultar placar</a:t>
            </a:r>
          </a:p>
        </p:txBody>
      </p:sp>
      <p:sp>
        <p:nvSpPr>
          <p:cNvPr id="25" name="diagrama-39">
            <a:extLst xmlns:a="http://schemas.openxmlformats.org/drawingml/2006/main">
              <a:ext uri="{FF2B5EF4-FFF2-40B4-BE49-F238E27FC236}">
                <a16:creationId xmlns:a16="http://schemas.microsoft.com/office/drawing/2014/main" id="{3F554E09-B28F-4D70-9ED2-D80B2A7E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013" y="2564606"/>
            <a:ext cx="1862138" cy="6072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6" name="texto-40">
            <a:extLst xmlns:a="http://schemas.openxmlformats.org/drawingml/2006/main">
              <a:ext uri="{FF2B5EF4-FFF2-40B4-BE49-F238E27FC236}">
                <a16:creationId xmlns:a16="http://schemas.microsoft.com/office/drawing/2014/main" id="{90C5B478-FAD8-43C2-A764-DF1DA3C2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680" y="2768632"/>
            <a:ext cx="1998802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402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defRPr sz="1402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402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Embaralhar cartas</a:t>
            </a:r>
          </a:p>
        </p:txBody>
      </p:sp>
      <p:sp>
        <p:nvSpPr>
          <p:cNvPr id="27" name="diagrama-41">
            <a:extLst xmlns:a="http://schemas.openxmlformats.org/drawingml/2006/main">
              <a:ext uri="{FF2B5EF4-FFF2-40B4-BE49-F238E27FC236}">
                <a16:creationId xmlns:a16="http://schemas.microsoft.com/office/drawing/2014/main" id="{458FE984-F311-4A50-A967-2727A89F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013" y="3536156"/>
            <a:ext cx="1862138" cy="6072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8" name="texto-42">
            <a:extLst xmlns:a="http://schemas.openxmlformats.org/drawingml/2006/main">
              <a:ext uri="{FF2B5EF4-FFF2-40B4-BE49-F238E27FC236}">
                <a16:creationId xmlns:a16="http://schemas.microsoft.com/office/drawing/2014/main" id="{43DD4DA1-F416-4FA7-8368-7CD72B6E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979" y="3740182"/>
            <a:ext cx="1336205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402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defRPr sz="1402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402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Validar par</a:t>
            </a:r>
          </a:p>
        </p:txBody>
      </p:sp>
      <p:sp>
        <p:nvSpPr>
          <p:cNvPr id="29" name="diagrama-43">
            <a:extLst xmlns:a="http://schemas.openxmlformats.org/drawingml/2006/main">
              <a:ext uri="{FF2B5EF4-FFF2-40B4-BE49-F238E27FC236}">
                <a16:creationId xmlns:a16="http://schemas.microsoft.com/office/drawing/2014/main" id="{8123E050-0ABC-49E0-A202-DCDC911A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013" y="4426744"/>
            <a:ext cx="1862138" cy="6072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30" name="texto-44">
            <a:extLst xmlns:a="http://schemas.openxmlformats.org/drawingml/2006/main">
              <a:ext uri="{FF2B5EF4-FFF2-40B4-BE49-F238E27FC236}">
                <a16:creationId xmlns:a16="http://schemas.microsoft.com/office/drawing/2014/main" id="{740C6D8C-CED7-4AFA-8418-A8ACC0F7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113" y="4630769"/>
            <a:ext cx="1777937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402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defRPr sz="1402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402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Atualizar turno</a:t>
            </a:r>
          </a:p>
        </p:txBody>
      </p:sp>
      <p:sp>
        <p:nvSpPr>
          <p:cNvPr id="31" name="diagrama-45">
            <a:extLst xmlns:a="http://schemas.openxmlformats.org/drawingml/2006/main">
              <a:ext uri="{FF2B5EF4-FFF2-40B4-BE49-F238E27FC236}">
                <a16:creationId xmlns:a16="http://schemas.microsoft.com/office/drawing/2014/main" id="{5072C806-A4C0-4EC4-B1C1-53348670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013" y="5317331"/>
            <a:ext cx="1862138" cy="6072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32" name="texto-46">
            <a:extLst xmlns:a="http://schemas.openxmlformats.org/drawingml/2006/main">
              <a:ext uri="{FF2B5EF4-FFF2-40B4-BE49-F238E27FC236}">
                <a16:creationId xmlns:a16="http://schemas.microsoft.com/office/drawing/2014/main" id="{0BB3FBDB-5D0E-429B-B3E1-130C696E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897" y="5521357"/>
            <a:ext cx="1888369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402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defRPr sz="1402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402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Apurar resultado</a:t>
            </a:r>
          </a:p>
        </p:txBody>
      </p:sp>
      <p:sp>
        <p:nvSpPr>
          <p:cNvPr id="33" name="relacao-47">
            <a:extLst xmlns:a="http://schemas.openxmlformats.org/drawingml/2006/main">
              <a:ext uri="{FF2B5EF4-FFF2-40B4-BE49-F238E27FC236}">
                <a16:creationId xmlns:a16="http://schemas.microsoft.com/office/drawing/2014/main" id="{2C23208F-1910-4ECB-A44E-EBEE4A6D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443538" y="2864168"/>
            <a:ext cx="1133475" cy="80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dash"/>
          </a:ln>
        </p:spPr>
      </p:sp>
      <p:sp>
        <p:nvSpPr>
          <p:cNvPr id="34" name="texto-48">
            <a:extLst xmlns:a="http://schemas.openxmlformats.org/drawingml/2006/main">
              <a:ext uri="{FF2B5EF4-FFF2-40B4-BE49-F238E27FC236}">
                <a16:creationId xmlns:a16="http://schemas.microsoft.com/office/drawing/2014/main" id="{BB3D2832-13CC-445C-BFEC-9CFB4C1A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7822" y="2634234"/>
            <a:ext cx="1004907" cy="155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2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defRPr sz="102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020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&lt;&lt;include&gt;&gt;</a:t>
            </a:r>
          </a:p>
        </p:txBody>
      </p:sp>
      <p:sp>
        <p:nvSpPr>
          <p:cNvPr id="35" name="relacao-49">
            <a:extLst xmlns:a="http://schemas.openxmlformats.org/drawingml/2006/main">
              <a:ext uri="{FF2B5EF4-FFF2-40B4-BE49-F238E27FC236}">
                <a16:creationId xmlns:a16="http://schemas.microsoft.com/office/drawing/2014/main" id="{F7C5FF08-91FC-4DBC-8C96-3825CB08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443538" y="4119086"/>
            <a:ext cx="647700" cy="80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dash"/>
          </a:ln>
        </p:spPr>
      </p:sp>
      <p:sp>
        <p:nvSpPr>
          <p:cNvPr id="36" name="relacao-50">
            <a:extLst xmlns:a="http://schemas.openxmlformats.org/drawingml/2006/main">
              <a:ext uri="{FF2B5EF4-FFF2-40B4-BE49-F238E27FC236}">
                <a16:creationId xmlns:a16="http://schemas.microsoft.com/office/drawing/2014/main" id="{B952465C-08B7-48FF-AABC-6536667A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1238" y="3835718"/>
            <a:ext cx="8096" cy="1781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dash"/>
          </a:ln>
        </p:spPr>
      </p:sp>
      <p:sp>
        <p:nvSpPr>
          <p:cNvPr id="37" name="relacao-51">
            <a:extLst xmlns:a="http://schemas.openxmlformats.org/drawingml/2006/main">
              <a:ext uri="{FF2B5EF4-FFF2-40B4-BE49-F238E27FC236}">
                <a16:creationId xmlns:a16="http://schemas.microsoft.com/office/drawing/2014/main" id="{35BFAAE3-66FF-496B-81EA-FF71CBF2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1238" y="3835718"/>
            <a:ext cx="485775" cy="80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dash"/>
          </a:ln>
        </p:spPr>
      </p:sp>
      <p:sp>
        <p:nvSpPr>
          <p:cNvPr id="38" name="relacao-52">
            <a:extLst xmlns:a="http://schemas.openxmlformats.org/drawingml/2006/main">
              <a:ext uri="{FF2B5EF4-FFF2-40B4-BE49-F238E27FC236}">
                <a16:creationId xmlns:a16="http://schemas.microsoft.com/office/drawing/2014/main" id="{8CC965A8-5CEC-46C0-9B4D-DF8D5DB2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1238" y="4726305"/>
            <a:ext cx="485775" cy="80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dash"/>
          </a:ln>
        </p:spPr>
      </p:sp>
      <p:sp>
        <p:nvSpPr>
          <p:cNvPr id="39" name="relacao-53">
            <a:extLst xmlns:a="http://schemas.openxmlformats.org/drawingml/2006/main">
              <a:ext uri="{FF2B5EF4-FFF2-40B4-BE49-F238E27FC236}">
                <a16:creationId xmlns:a16="http://schemas.microsoft.com/office/drawing/2014/main" id="{70BF781D-9018-40D0-A769-3859143E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1238" y="5616893"/>
            <a:ext cx="485775" cy="80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dash"/>
          </a:ln>
        </p:spPr>
      </p:sp>
      <p:sp>
        <p:nvSpPr>
          <p:cNvPr id="40" name="texto-54">
            <a:extLst xmlns:a="http://schemas.openxmlformats.org/drawingml/2006/main">
              <a:ext uri="{FF2B5EF4-FFF2-40B4-BE49-F238E27FC236}">
                <a16:creationId xmlns:a16="http://schemas.microsoft.com/office/drawing/2014/main" id="{382416CC-8290-4663-B31B-7F126902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7822" y="3597688"/>
            <a:ext cx="1004907" cy="155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2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defRPr sz="102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020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&lt;&lt;include&gt;&gt;</a:t>
            </a:r>
          </a:p>
        </p:txBody>
      </p:sp>
      <p:sp>
        <p:nvSpPr>
          <p:cNvPr id="41" name="relacao-55">
            <a:extLst xmlns:a="http://schemas.openxmlformats.org/drawingml/2006/main">
              <a:ext uri="{FF2B5EF4-FFF2-40B4-BE49-F238E27FC236}">
                <a16:creationId xmlns:a16="http://schemas.microsoft.com/office/drawing/2014/main" id="{E4028B48-78EF-4B29-8199-114E37EE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96050" y="2815590"/>
            <a:ext cx="80963" cy="485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42" name="relacao-56">
            <a:extLst xmlns:a="http://schemas.openxmlformats.org/drawingml/2006/main">
              <a:ext uri="{FF2B5EF4-FFF2-40B4-BE49-F238E27FC236}">
                <a16:creationId xmlns:a16="http://schemas.microsoft.com/office/drawing/2014/main" id="{E883F334-2E90-4BD5-A48F-D6C74011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496050" y="2864168"/>
            <a:ext cx="80963" cy="485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43" name="relacao-57">
            <a:extLst xmlns:a="http://schemas.openxmlformats.org/drawingml/2006/main">
              <a:ext uri="{FF2B5EF4-FFF2-40B4-BE49-F238E27FC236}">
                <a16:creationId xmlns:a16="http://schemas.microsoft.com/office/drawing/2014/main" id="{81B3F6AB-B2C0-4871-861E-01E7FE8F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96050" y="3787140"/>
            <a:ext cx="80963" cy="485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44" name="relacao-58">
            <a:extLst xmlns:a="http://schemas.openxmlformats.org/drawingml/2006/main">
              <a:ext uri="{FF2B5EF4-FFF2-40B4-BE49-F238E27FC236}">
                <a16:creationId xmlns:a16="http://schemas.microsoft.com/office/drawing/2014/main" id="{15C6E04A-9861-4139-9055-CDFD9DE5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496050" y="3835718"/>
            <a:ext cx="80963" cy="485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45" name="relacao-59">
            <a:extLst xmlns:a="http://schemas.openxmlformats.org/drawingml/2006/main">
              <a:ext uri="{FF2B5EF4-FFF2-40B4-BE49-F238E27FC236}">
                <a16:creationId xmlns:a16="http://schemas.microsoft.com/office/drawing/2014/main" id="{313E1EF4-78F3-494E-A91E-E9DBB5E3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96050" y="4677728"/>
            <a:ext cx="80963" cy="485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46" name="relacao-60">
            <a:extLst xmlns:a="http://schemas.openxmlformats.org/drawingml/2006/main">
              <a:ext uri="{FF2B5EF4-FFF2-40B4-BE49-F238E27FC236}">
                <a16:creationId xmlns:a16="http://schemas.microsoft.com/office/drawing/2014/main" id="{576DC58C-5A50-418F-9133-4978B593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496050" y="4726305"/>
            <a:ext cx="80963" cy="485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47" name="relacao-61">
            <a:extLst xmlns:a="http://schemas.openxmlformats.org/drawingml/2006/main">
              <a:ext uri="{FF2B5EF4-FFF2-40B4-BE49-F238E27FC236}">
                <a16:creationId xmlns:a16="http://schemas.microsoft.com/office/drawing/2014/main" id="{C78EF4D9-BEC9-4CFB-8867-11A0C9E7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96050" y="5568315"/>
            <a:ext cx="80963" cy="485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48" name="relacao-62">
            <a:extLst xmlns:a="http://schemas.openxmlformats.org/drawingml/2006/main">
              <a:ext uri="{FF2B5EF4-FFF2-40B4-BE49-F238E27FC236}">
                <a16:creationId xmlns:a16="http://schemas.microsoft.com/office/drawing/2014/main" id="{2D66B109-F726-4A0F-AA05-86AE0DC6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496050" y="5616893"/>
            <a:ext cx="80963" cy="485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49" name="texto-63">
            <a:extLst xmlns:a="http://schemas.openxmlformats.org/drawingml/2006/main">
              <a:ext uri="{FF2B5EF4-FFF2-40B4-BE49-F238E27FC236}">
                <a16:creationId xmlns:a16="http://schemas.microsoft.com/office/drawing/2014/main" id="{3E4250F1-B311-4A70-AC8F-0EB30DE5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35" y="6295358"/>
            <a:ext cx="7440130" cy="174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148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defRPr sz="1148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148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A validação atualiza pontos e tentativas. Erro alterna a vez. Oitavo par encerra.</a:t>
            </a:r>
          </a:p>
        </p:txBody>
      </p:sp>
    </p:spTree>
    <p:extLst>
      <p:ext uri="{BB962C8B-B14F-4D97-AF65-F5344CB8AC3E}">
        <p14:creationId xmlns:p14="http://schemas.microsoft.com/office/powerpoint/2010/main" val="7977438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4976022-0B6A-4CAA-BF4F-7D08277587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90c09453a94f9d"/>
          <a:srcRect xmlns:a="http://schemas.openxmlformats.org/drawingml/2006/main" l="0" t="0" r="0" b="88889"/>
          <a:stretch xmlns:a="http://schemas.openxmlformats.org/drawingml/2006/main"/>
        </p:blipFill>
        <p:spPr>
          <a:xfrm xmlns:a="http://schemas.openxmlformats.org/drawingml/2006/main">
            <a:off x="0" y="0"/>
            <a:ext cx="9753600" cy="812797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63F6CB-1E4E-40CE-9E48-131BC80C58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83e10d69754516"/>
          <a:srcRect xmlns:a="http://schemas.openxmlformats.org/drawingml/2006/main" l="1938" t="95607" r="2132" b="3876"/>
          <a:stretch xmlns:a="http://schemas.openxmlformats.org/drawingml/2006/main"/>
        </p:blipFill>
        <p:spPr>
          <a:xfrm xmlns:a="http://schemas.openxmlformats.org/drawingml/2006/main">
            <a:off x="190500" y="6657975"/>
            <a:ext cx="9372600" cy="419100"/>
          </a:xfrm>
          <a:prstGeom xmlns:a="http://schemas.openxmlformats.org/drawingml/2006/main" prst="rect">
            <a:avLst/>
          </a:prstGeom>
        </p:spPr>
      </p:pic>
      <p:sp>
        <p:nvSpPr>
          <p:cNvPr id="3" name="texto-64">
            <a:extLst xmlns:a="http://schemas.openxmlformats.org/drawingml/2006/main">
              <a:ext uri="{FF2B5EF4-FFF2-40B4-BE49-F238E27FC236}">
                <a16:creationId xmlns:a16="http://schemas.microsoft.com/office/drawing/2014/main" id="{9EADF6BA-AFFF-458A-90D0-C3E4FAA1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715125"/>
            <a:ext cx="904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Disciplina: Certificadora de Competência I</a:t>
            </a:r>
          </a:p>
        </p:txBody>
      </p:sp>
      <p:sp>
        <p:nvSpPr>
          <p:cNvPr id="4" name="texto-65">
            <a:extLst xmlns:a="http://schemas.openxmlformats.org/drawingml/2006/main">
              <a:ext uri="{FF2B5EF4-FFF2-40B4-BE49-F238E27FC236}">
                <a16:creationId xmlns:a16="http://schemas.microsoft.com/office/drawing/2014/main" id="{C79B7C9C-6C3A-492E-B8D4-B4DD8800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33475"/>
            <a:ext cx="84296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0070C0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070C0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0070C0"/>
                </a:solidFill>
                <a:latin typeface="Nimbus Sans"/>
                <a:ea typeface="Nimbus Sans"/>
                <a:cs typeface="Nimbus Sans"/>
              </a:rPr>
              <a:t>Diagrama de classes e estruturas</a:t>
            </a:r>
          </a:p>
        </p:txBody>
      </p:sp>
      <p:sp>
        <p:nvSpPr>
          <p:cNvPr id="5" name="diagrama-66">
            <a:extLst xmlns:a="http://schemas.openxmlformats.org/drawingml/2006/main">
              <a:ext uri="{FF2B5EF4-FFF2-40B4-BE49-F238E27FC236}">
                <a16:creationId xmlns:a16="http://schemas.microsoft.com/office/drawing/2014/main" id="{9F87FC3B-4C7D-4E0A-9520-BB986F89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" y="1892618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6" name="texto-67">
            <a:extLst xmlns:a="http://schemas.openxmlformats.org/drawingml/2006/main">
              <a:ext uri="{FF2B5EF4-FFF2-40B4-BE49-F238E27FC236}">
                <a16:creationId xmlns:a16="http://schemas.microsoft.com/office/drawing/2014/main" id="{677D0B6D-9632-42D5-9596-F4F56600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688" y="1961436"/>
            <a:ext cx="1501854" cy="24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594" b="1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defRPr sz="1594" b="1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594" b="1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JogoMemoria</a:t>
            </a:r>
          </a:p>
        </p:txBody>
      </p:sp>
      <p:sp>
        <p:nvSpPr>
          <p:cNvPr id="7" name="relacao-68">
            <a:extLst xmlns:a="http://schemas.openxmlformats.org/drawingml/2006/main">
              <a:ext uri="{FF2B5EF4-FFF2-40B4-BE49-F238E27FC236}">
                <a16:creationId xmlns:a16="http://schemas.microsoft.com/office/drawing/2014/main" id="{CA2D35D4-9117-4039-9D3C-E3434F5C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20140" y="2248853"/>
            <a:ext cx="2266950" cy="80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8" name="texto-69">
            <a:extLst xmlns:a="http://schemas.openxmlformats.org/drawingml/2006/main">
              <a:ext uri="{FF2B5EF4-FFF2-40B4-BE49-F238E27FC236}">
                <a16:creationId xmlns:a16="http://schemas.microsoft.com/office/drawing/2014/main" id="{6BB07294-8315-4F31-B5FD-B0D62B4E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391" y="2322528"/>
            <a:ext cx="2335120" cy="20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tabuleiro : Tabuleiro</a:t>
            </a:r>
          </a:p>
        </p:txBody>
      </p:sp>
      <p:sp>
        <p:nvSpPr>
          <p:cNvPr id="9" name="texto-70">
            <a:extLst xmlns:a="http://schemas.openxmlformats.org/drawingml/2006/main">
              <a:ext uri="{FF2B5EF4-FFF2-40B4-BE49-F238E27FC236}">
                <a16:creationId xmlns:a16="http://schemas.microsoft.com/office/drawing/2014/main" id="{E297A1FE-C256-4F5A-A826-920230C7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391" y="2557320"/>
            <a:ext cx="1702641" cy="20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jogada : Jogada</a:t>
            </a:r>
          </a:p>
        </p:txBody>
      </p:sp>
      <p:sp>
        <p:nvSpPr>
          <p:cNvPr id="10" name="diagrama-71">
            <a:extLst xmlns:a="http://schemas.openxmlformats.org/drawingml/2006/main">
              <a:ext uri="{FF2B5EF4-FFF2-40B4-BE49-F238E27FC236}">
                <a16:creationId xmlns:a16="http://schemas.microsoft.com/office/drawing/2014/main" id="{540F96CB-95C7-4AC6-B870-E51D3989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892618"/>
            <a:ext cx="2266950" cy="1206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1" name="texto-72">
            <a:extLst xmlns:a="http://schemas.openxmlformats.org/drawingml/2006/main">
              <a:ext uri="{FF2B5EF4-FFF2-40B4-BE49-F238E27FC236}">
                <a16:creationId xmlns:a16="http://schemas.microsoft.com/office/drawing/2014/main" id="{192A1FA4-C393-4258-89D4-1772C318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603" y="1961436"/>
            <a:ext cx="874395" cy="24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594" b="1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defRPr sz="1594" b="1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594" b="1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Jogada</a:t>
            </a:r>
          </a:p>
        </p:txBody>
      </p:sp>
      <p:sp>
        <p:nvSpPr>
          <p:cNvPr id="12" name="relacao-73">
            <a:extLst xmlns:a="http://schemas.openxmlformats.org/drawingml/2006/main">
              <a:ext uri="{FF2B5EF4-FFF2-40B4-BE49-F238E27FC236}">
                <a16:creationId xmlns:a16="http://schemas.microsoft.com/office/drawing/2014/main" id="{BB0E13EA-7CF8-489B-8CED-AA28DC77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743325" y="2248853"/>
            <a:ext cx="2266950" cy="80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3" name="texto-74">
            <a:extLst xmlns:a="http://schemas.openxmlformats.org/drawingml/2006/main">
              <a:ext uri="{FF2B5EF4-FFF2-40B4-BE49-F238E27FC236}">
                <a16:creationId xmlns:a16="http://schemas.microsoft.com/office/drawing/2014/main" id="{BD560FB2-5AAC-40E5-A8D4-CD6DF8FF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576" y="2322528"/>
            <a:ext cx="1597228" cy="20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primeira : int</a:t>
            </a:r>
          </a:p>
        </p:txBody>
      </p:sp>
      <p:sp>
        <p:nvSpPr>
          <p:cNvPr id="14" name="texto-75">
            <a:extLst xmlns:a="http://schemas.openxmlformats.org/drawingml/2006/main">
              <a:ext uri="{FF2B5EF4-FFF2-40B4-BE49-F238E27FC236}">
                <a16:creationId xmlns:a16="http://schemas.microsoft.com/office/drawing/2014/main" id="{931C1382-D9C4-46A9-816C-93CC2793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576" y="2557320"/>
            <a:ext cx="1491815" cy="20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segunda : int</a:t>
            </a:r>
          </a:p>
        </p:txBody>
      </p:sp>
      <p:sp>
        <p:nvSpPr>
          <p:cNvPr id="15" name="texto-76">
            <a:extLst xmlns:a="http://schemas.openxmlformats.org/drawingml/2006/main">
              <a:ext uri="{FF2B5EF4-FFF2-40B4-BE49-F238E27FC236}">
                <a16:creationId xmlns:a16="http://schemas.microsoft.com/office/drawing/2014/main" id="{4D0549DC-BD9A-4576-88BB-27BC62BD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576" y="2792111"/>
            <a:ext cx="1808055" cy="20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aguardando : int</a:t>
            </a:r>
          </a:p>
        </p:txBody>
      </p:sp>
      <p:sp>
        <p:nvSpPr>
          <p:cNvPr id="16" name="diagrama-77">
            <a:extLst xmlns:a="http://schemas.openxmlformats.org/drawingml/2006/main">
              <a:ext uri="{FF2B5EF4-FFF2-40B4-BE49-F238E27FC236}">
                <a16:creationId xmlns:a16="http://schemas.microsoft.com/office/drawing/2014/main" id="{ECF2F1C1-C490-4869-A09A-63C9C8A4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510" y="1892618"/>
            <a:ext cx="2266950" cy="1206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7" name="texto-78">
            <a:extLst xmlns:a="http://schemas.openxmlformats.org/drawingml/2006/main">
              <a:ext uri="{FF2B5EF4-FFF2-40B4-BE49-F238E27FC236}">
                <a16:creationId xmlns:a16="http://schemas.microsoft.com/office/drawing/2014/main" id="{0A7FB244-257B-4D11-A5F6-2872B70D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8" y="1961436"/>
            <a:ext cx="874395" cy="24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594" b="1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defRPr sz="1594" b="1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594" b="1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Placar</a:t>
            </a:r>
          </a:p>
        </p:txBody>
      </p:sp>
      <p:sp>
        <p:nvSpPr>
          <p:cNvPr id="18" name="relacao-79">
            <a:extLst xmlns:a="http://schemas.openxmlformats.org/drawingml/2006/main">
              <a:ext uri="{FF2B5EF4-FFF2-40B4-BE49-F238E27FC236}">
                <a16:creationId xmlns:a16="http://schemas.microsoft.com/office/drawing/2014/main" id="{EE58B661-70D4-41F0-B0AD-7856087E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366510" y="2248853"/>
            <a:ext cx="2266950" cy="80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9" name="texto-80">
            <a:extLst xmlns:a="http://schemas.openxmlformats.org/drawingml/2006/main">
              <a:ext uri="{FF2B5EF4-FFF2-40B4-BE49-F238E27FC236}">
                <a16:creationId xmlns:a16="http://schemas.microsoft.com/office/drawing/2014/main" id="{E8FEE4BF-B404-4126-BE03-02B5EC2E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1761" y="2322528"/>
            <a:ext cx="2440534" cy="20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jogadores[2] : Jogador</a:t>
            </a:r>
          </a:p>
        </p:txBody>
      </p:sp>
      <p:sp>
        <p:nvSpPr>
          <p:cNvPr id="20" name="texto-81">
            <a:extLst xmlns:a="http://schemas.openxmlformats.org/drawingml/2006/main">
              <a:ext uri="{FF2B5EF4-FFF2-40B4-BE49-F238E27FC236}">
                <a16:creationId xmlns:a16="http://schemas.microsoft.com/office/drawing/2014/main" id="{8210EE45-20EB-4942-8F84-2EE1BFAA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1761" y="2557320"/>
            <a:ext cx="2335120" cy="20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totalTentativas : int</a:t>
            </a:r>
          </a:p>
        </p:txBody>
      </p:sp>
      <p:sp>
        <p:nvSpPr>
          <p:cNvPr id="21" name="texto-82">
            <a:extLst xmlns:a="http://schemas.openxmlformats.org/drawingml/2006/main">
              <a:ext uri="{FF2B5EF4-FFF2-40B4-BE49-F238E27FC236}">
                <a16:creationId xmlns:a16="http://schemas.microsoft.com/office/drawing/2014/main" id="{D18168B8-7B93-40E3-B3EF-D088904F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1761" y="2792111"/>
            <a:ext cx="2440534" cy="20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paresEncontrados : int</a:t>
            </a:r>
          </a:p>
        </p:txBody>
      </p:sp>
      <p:sp>
        <p:nvSpPr>
          <p:cNvPr id="22" name="diagrama-83">
            <a:extLst xmlns:a="http://schemas.openxmlformats.org/drawingml/2006/main">
              <a:ext uri="{FF2B5EF4-FFF2-40B4-BE49-F238E27FC236}">
                <a16:creationId xmlns:a16="http://schemas.microsoft.com/office/drawing/2014/main" id="{D87696F6-E5ED-4AA3-80AF-FF637F58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" y="3560445"/>
            <a:ext cx="2266950" cy="7367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3" name="texto-84">
            <a:extLst xmlns:a="http://schemas.openxmlformats.org/drawingml/2006/main">
              <a:ext uri="{FF2B5EF4-FFF2-40B4-BE49-F238E27FC236}">
                <a16:creationId xmlns:a16="http://schemas.microsoft.com/office/drawing/2014/main" id="{F10EB0B9-452E-494A-9DFC-265B5CAA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180" y="3629263"/>
            <a:ext cx="1250871" cy="24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594" b="1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defRPr sz="1594" b="1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594" b="1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Tabuleiro</a:t>
            </a:r>
          </a:p>
        </p:txBody>
      </p:sp>
      <p:sp>
        <p:nvSpPr>
          <p:cNvPr id="24" name="relacao-85">
            <a:extLst xmlns:a="http://schemas.openxmlformats.org/drawingml/2006/main">
              <a:ext uri="{FF2B5EF4-FFF2-40B4-BE49-F238E27FC236}">
                <a16:creationId xmlns:a16="http://schemas.microsoft.com/office/drawing/2014/main" id="{6C6D3613-4352-43BB-AF07-6989D5D6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20140" y="3916680"/>
            <a:ext cx="2266950" cy="80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5" name="texto-86">
            <a:extLst xmlns:a="http://schemas.openxmlformats.org/drawingml/2006/main">
              <a:ext uri="{FF2B5EF4-FFF2-40B4-BE49-F238E27FC236}">
                <a16:creationId xmlns:a16="http://schemas.microsoft.com/office/drawing/2014/main" id="{5F4227B2-9A30-4E2D-806F-AFC1B990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391" y="3990356"/>
            <a:ext cx="2018881" cy="20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cartas[16] : Carta</a:t>
            </a:r>
          </a:p>
        </p:txBody>
      </p:sp>
      <p:sp>
        <p:nvSpPr>
          <p:cNvPr id="26" name="diagrama-87">
            <a:extLst xmlns:a="http://schemas.openxmlformats.org/drawingml/2006/main">
              <a:ext uri="{FF2B5EF4-FFF2-40B4-BE49-F238E27FC236}">
                <a16:creationId xmlns:a16="http://schemas.microsoft.com/office/drawing/2014/main" id="{44FB9D2D-B594-4F09-9679-63E8951A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560445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7" name="texto-88">
            <a:extLst xmlns:a="http://schemas.openxmlformats.org/drawingml/2006/main">
              <a:ext uri="{FF2B5EF4-FFF2-40B4-BE49-F238E27FC236}">
                <a16:creationId xmlns:a16="http://schemas.microsoft.com/office/drawing/2014/main" id="{77062F11-EBC1-49AF-B4E1-C1939FED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635" y="3629263"/>
            <a:ext cx="1878330" cy="24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594" b="1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defRPr sz="1594" b="1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594" b="1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ControleTurnos</a:t>
            </a:r>
          </a:p>
        </p:txBody>
      </p:sp>
      <p:sp>
        <p:nvSpPr>
          <p:cNvPr id="28" name="relacao-89">
            <a:extLst xmlns:a="http://schemas.openxmlformats.org/drawingml/2006/main">
              <a:ext uri="{FF2B5EF4-FFF2-40B4-BE49-F238E27FC236}">
                <a16:creationId xmlns:a16="http://schemas.microsoft.com/office/drawing/2014/main" id="{FA5EDDBF-8BFE-4C64-A6FE-BFA3E2A4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743325" y="3916680"/>
            <a:ext cx="2266950" cy="80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9" name="texto-90">
            <a:extLst xmlns:a="http://schemas.openxmlformats.org/drawingml/2006/main">
              <a:ext uri="{FF2B5EF4-FFF2-40B4-BE49-F238E27FC236}">
                <a16:creationId xmlns:a16="http://schemas.microsoft.com/office/drawing/2014/main" id="{F3A9043A-9911-4C6C-A8EA-C9822698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576" y="3990356"/>
            <a:ext cx="2018881" cy="20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jogadorAtual : int</a:t>
            </a:r>
          </a:p>
        </p:txBody>
      </p:sp>
      <p:sp>
        <p:nvSpPr>
          <p:cNvPr id="30" name="texto-91">
            <a:extLst xmlns:a="http://schemas.openxmlformats.org/drawingml/2006/main">
              <a:ext uri="{FF2B5EF4-FFF2-40B4-BE49-F238E27FC236}">
                <a16:creationId xmlns:a16="http://schemas.microsoft.com/office/drawing/2014/main" id="{D70CD6F0-10AB-4CB1-997D-7F82D772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576" y="4225147"/>
            <a:ext cx="2124294" cy="20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ultimoJogador : int</a:t>
            </a:r>
          </a:p>
        </p:txBody>
      </p:sp>
      <p:sp>
        <p:nvSpPr>
          <p:cNvPr id="31" name="diagrama-92">
            <a:extLst xmlns:a="http://schemas.openxmlformats.org/drawingml/2006/main">
              <a:ext uri="{FF2B5EF4-FFF2-40B4-BE49-F238E27FC236}">
                <a16:creationId xmlns:a16="http://schemas.microsoft.com/office/drawing/2014/main" id="{10C4DA78-0C4E-4A9B-8649-E69EB1EC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510" y="3560445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32" name="texto-93">
            <a:extLst xmlns:a="http://schemas.openxmlformats.org/drawingml/2006/main">
              <a:ext uri="{FF2B5EF4-FFF2-40B4-BE49-F238E27FC236}">
                <a16:creationId xmlns:a16="http://schemas.microsoft.com/office/drawing/2014/main" id="{3DCC59D7-F934-4EAA-B1FE-533DD76F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42" y="3629263"/>
            <a:ext cx="999887" cy="24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594" b="1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defRPr sz="1594" b="1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594" b="1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Jogador</a:t>
            </a:r>
          </a:p>
        </p:txBody>
      </p:sp>
      <p:sp>
        <p:nvSpPr>
          <p:cNvPr id="33" name="relacao-94">
            <a:extLst xmlns:a="http://schemas.openxmlformats.org/drawingml/2006/main">
              <a:ext uri="{FF2B5EF4-FFF2-40B4-BE49-F238E27FC236}">
                <a16:creationId xmlns:a16="http://schemas.microsoft.com/office/drawing/2014/main" id="{BE3AFD32-54FF-480D-B91F-D99402F1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366510" y="3916680"/>
            <a:ext cx="2266950" cy="80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34" name="texto-95">
            <a:extLst xmlns:a="http://schemas.openxmlformats.org/drawingml/2006/main">
              <a:ext uri="{FF2B5EF4-FFF2-40B4-BE49-F238E27FC236}">
                <a16:creationId xmlns:a16="http://schemas.microsoft.com/office/drawing/2014/main" id="{F470B6B3-67D6-4611-A5F5-2F49E8D2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1761" y="3990356"/>
            <a:ext cx="1386402" cy="20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pontos : int</a:t>
            </a:r>
          </a:p>
        </p:txBody>
      </p:sp>
      <p:sp>
        <p:nvSpPr>
          <p:cNvPr id="35" name="texto-96">
            <a:extLst xmlns:a="http://schemas.openxmlformats.org/drawingml/2006/main">
              <a:ext uri="{FF2B5EF4-FFF2-40B4-BE49-F238E27FC236}">
                <a16:creationId xmlns:a16="http://schemas.microsoft.com/office/drawing/2014/main" id="{29DABBD9-752E-40FA-932B-C4709890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1761" y="4225147"/>
            <a:ext cx="1808055" cy="20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tentativas : int</a:t>
            </a:r>
          </a:p>
        </p:txBody>
      </p:sp>
      <p:sp>
        <p:nvSpPr>
          <p:cNvPr id="36" name="diagrama-97">
            <a:extLst xmlns:a="http://schemas.openxmlformats.org/drawingml/2006/main">
              <a:ext uri="{FF2B5EF4-FFF2-40B4-BE49-F238E27FC236}">
                <a16:creationId xmlns:a16="http://schemas.microsoft.com/office/drawing/2014/main" id="{1711B8BD-2482-4FCA-A563-6A84CEE6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" y="5017770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37" name="texto-98">
            <a:extLst xmlns:a="http://schemas.openxmlformats.org/drawingml/2006/main">
              <a:ext uri="{FF2B5EF4-FFF2-40B4-BE49-F238E27FC236}">
                <a16:creationId xmlns:a16="http://schemas.microsoft.com/office/drawing/2014/main" id="{C6D02C0F-D9AE-4132-8D5F-C95BD2D4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9163" y="5086588"/>
            <a:ext cx="748903" cy="24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594" b="1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defRPr sz="1594" b="1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594" b="1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Carta</a:t>
            </a:r>
          </a:p>
        </p:txBody>
      </p:sp>
      <p:sp>
        <p:nvSpPr>
          <p:cNvPr id="38" name="relacao-99">
            <a:extLst xmlns:a="http://schemas.openxmlformats.org/drawingml/2006/main">
              <a:ext uri="{FF2B5EF4-FFF2-40B4-BE49-F238E27FC236}">
                <a16:creationId xmlns:a16="http://schemas.microsoft.com/office/drawing/2014/main" id="{71F42719-77E4-4B45-B242-7B2618BB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20140" y="5374005"/>
            <a:ext cx="2266950" cy="80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39" name="texto-100">
            <a:extLst xmlns:a="http://schemas.openxmlformats.org/drawingml/2006/main">
              <a:ext uri="{FF2B5EF4-FFF2-40B4-BE49-F238E27FC236}">
                <a16:creationId xmlns:a16="http://schemas.microsoft.com/office/drawing/2014/main" id="{4DF72164-BF1D-4E6D-84BC-3F3908DD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391" y="5447681"/>
            <a:ext cx="2440534" cy="20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simbolo : const char *</a:t>
            </a:r>
          </a:p>
        </p:txBody>
      </p:sp>
      <p:sp>
        <p:nvSpPr>
          <p:cNvPr id="40" name="texto-101">
            <a:extLst xmlns:a="http://schemas.openxmlformats.org/drawingml/2006/main">
              <a:ext uri="{FF2B5EF4-FFF2-40B4-BE49-F238E27FC236}">
                <a16:creationId xmlns:a16="http://schemas.microsoft.com/office/drawing/2014/main" id="{6915606C-50F6-422A-974D-D0932608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391" y="5682472"/>
            <a:ext cx="2229707" cy="20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estado : EstadoCarta</a:t>
            </a:r>
          </a:p>
        </p:txBody>
      </p:sp>
      <p:sp>
        <p:nvSpPr>
          <p:cNvPr id="41" name="diagrama-102">
            <a:extLst xmlns:a="http://schemas.openxmlformats.org/drawingml/2006/main">
              <a:ext uri="{FF2B5EF4-FFF2-40B4-BE49-F238E27FC236}">
                <a16:creationId xmlns:a16="http://schemas.microsoft.com/office/drawing/2014/main" id="{0994E365-85D9-42EC-A6DD-13DF7167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017770"/>
            <a:ext cx="2266950" cy="1206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42" name="texto-103">
            <a:extLst xmlns:a="http://schemas.openxmlformats.org/drawingml/2006/main">
              <a:ext uri="{FF2B5EF4-FFF2-40B4-BE49-F238E27FC236}">
                <a16:creationId xmlns:a16="http://schemas.microsoft.com/office/drawing/2014/main" id="{186AC8F0-774E-47A9-9117-0E6672DE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143" y="5086588"/>
            <a:ext cx="2129314" cy="24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594" b="1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defRPr sz="1594" b="1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594" b="1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ResultadoPartida</a:t>
            </a:r>
          </a:p>
        </p:txBody>
      </p:sp>
      <p:sp>
        <p:nvSpPr>
          <p:cNvPr id="43" name="relacao-104">
            <a:extLst xmlns:a="http://schemas.openxmlformats.org/drawingml/2006/main">
              <a:ext uri="{FF2B5EF4-FFF2-40B4-BE49-F238E27FC236}">
                <a16:creationId xmlns:a16="http://schemas.microsoft.com/office/drawing/2014/main" id="{B1DE4DB8-4C59-49F3-A592-CF8785B9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743325" y="5374005"/>
            <a:ext cx="2266950" cy="80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44" name="texto-105">
            <a:extLst xmlns:a="http://schemas.openxmlformats.org/drawingml/2006/main">
              <a:ext uri="{FF2B5EF4-FFF2-40B4-BE49-F238E27FC236}">
                <a16:creationId xmlns:a16="http://schemas.microsoft.com/office/drawing/2014/main" id="{17E01CC9-B40C-4603-9113-C711D412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576" y="5447681"/>
            <a:ext cx="1597228" cy="20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iniciada : int</a:t>
            </a:r>
          </a:p>
        </p:txBody>
      </p:sp>
      <p:sp>
        <p:nvSpPr>
          <p:cNvPr id="45" name="texto-106">
            <a:extLst xmlns:a="http://schemas.openxmlformats.org/drawingml/2006/main">
              <a:ext uri="{FF2B5EF4-FFF2-40B4-BE49-F238E27FC236}">
                <a16:creationId xmlns:a16="http://schemas.microsoft.com/office/drawing/2014/main" id="{BCC58FB9-2AEF-4383-A393-08ADF0F4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576" y="5682472"/>
            <a:ext cx="1702641" cy="20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encerrada : int</a:t>
            </a:r>
          </a:p>
        </p:txBody>
      </p:sp>
      <p:sp>
        <p:nvSpPr>
          <p:cNvPr id="46" name="texto-107">
            <a:extLst xmlns:a="http://schemas.openxmlformats.org/drawingml/2006/main">
              <a:ext uri="{FF2B5EF4-FFF2-40B4-BE49-F238E27FC236}">
                <a16:creationId xmlns:a16="http://schemas.microsoft.com/office/drawing/2014/main" id="{8B800E55-6D71-42CD-98D4-5B892103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576" y="5917263"/>
            <a:ext cx="1597228" cy="20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339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vencedor : int</a:t>
            </a:r>
          </a:p>
        </p:txBody>
      </p:sp>
      <p:sp>
        <p:nvSpPr>
          <p:cNvPr id="47" name="composicao-108">
            <a:extLst xmlns:a="http://schemas.openxmlformats.org/drawingml/2006/main">
              <a:ext uri="{FF2B5EF4-FFF2-40B4-BE49-F238E27FC236}">
                <a16:creationId xmlns:a16="http://schemas.microsoft.com/office/drawing/2014/main" id="{B0AEDB5C-8BEB-4CCA-853E-B53579CB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7090" y="2435066"/>
            <a:ext cx="113348" cy="80963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48" name="relacao-109">
            <a:extLst xmlns:a="http://schemas.openxmlformats.org/drawingml/2006/main">
              <a:ext uri="{FF2B5EF4-FFF2-40B4-BE49-F238E27FC236}">
                <a16:creationId xmlns:a16="http://schemas.microsoft.com/office/drawing/2014/main" id="{8BB8A56D-28D8-4596-AFBE-678F41DF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00438" y="2475548"/>
            <a:ext cx="242888" cy="80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49" name="texto-110">
            <a:extLst xmlns:a="http://schemas.openxmlformats.org/drawingml/2006/main">
              <a:ext uri="{FF2B5EF4-FFF2-40B4-BE49-F238E27FC236}">
                <a16:creationId xmlns:a16="http://schemas.microsoft.com/office/drawing/2014/main" id="{FDAD6094-7439-4169-942C-98C3C09E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3785" y="2247233"/>
            <a:ext cx="211798" cy="174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148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148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148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50" name="composicao-111">
            <a:extLst xmlns:a="http://schemas.openxmlformats.org/drawingml/2006/main">
              <a:ext uri="{FF2B5EF4-FFF2-40B4-BE49-F238E27FC236}">
                <a16:creationId xmlns:a16="http://schemas.microsoft.com/office/drawing/2014/main" id="{EFE587B5-6C94-46F8-9EF0-B357F39F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3134" y="2864168"/>
            <a:ext cx="80963" cy="1133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51" name="relacao-112">
            <a:extLst xmlns:a="http://schemas.openxmlformats.org/drawingml/2006/main">
              <a:ext uri="{FF2B5EF4-FFF2-40B4-BE49-F238E27FC236}">
                <a16:creationId xmlns:a16="http://schemas.microsoft.com/office/drawing/2014/main" id="{A7E507DE-93E0-4025-94B0-106871E9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253615" y="2977515"/>
            <a:ext cx="8096" cy="5829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52" name="texto-113">
            <a:extLst xmlns:a="http://schemas.openxmlformats.org/drawingml/2006/main">
              <a:ext uri="{FF2B5EF4-FFF2-40B4-BE49-F238E27FC236}">
                <a16:creationId xmlns:a16="http://schemas.microsoft.com/office/drawing/2014/main" id="{7247CC8E-D88D-46E3-8B0D-5403415A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770" y="3291650"/>
            <a:ext cx="211798" cy="174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148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148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148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53" name="composicao-114">
            <a:extLst xmlns:a="http://schemas.openxmlformats.org/drawingml/2006/main">
              <a:ext uri="{FF2B5EF4-FFF2-40B4-BE49-F238E27FC236}">
                <a16:creationId xmlns:a16="http://schemas.microsoft.com/office/drawing/2014/main" id="{50726DA2-E9C2-4840-A0A2-CDA23FB3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3134" y="4297204"/>
            <a:ext cx="80963" cy="1133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54" name="relacao-115">
            <a:extLst xmlns:a="http://schemas.openxmlformats.org/drawingml/2006/main">
              <a:ext uri="{FF2B5EF4-FFF2-40B4-BE49-F238E27FC236}">
                <a16:creationId xmlns:a16="http://schemas.microsoft.com/office/drawing/2014/main" id="{9704EB6E-BC11-4FF0-A043-244C9EC0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253615" y="4410551"/>
            <a:ext cx="8096" cy="6072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55" name="texto-116">
            <a:extLst xmlns:a="http://schemas.openxmlformats.org/drawingml/2006/main">
              <a:ext uri="{FF2B5EF4-FFF2-40B4-BE49-F238E27FC236}">
                <a16:creationId xmlns:a16="http://schemas.microsoft.com/office/drawing/2014/main" id="{EF2F8969-4782-40C9-938B-ABE2F0EE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770" y="4740878"/>
            <a:ext cx="302152" cy="174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148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148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148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16</a:t>
            </a:r>
          </a:p>
        </p:txBody>
      </p:sp>
      <p:sp>
        <p:nvSpPr>
          <p:cNvPr id="56" name="composicao-117">
            <a:extLst xmlns:a="http://schemas.openxmlformats.org/drawingml/2006/main">
              <a:ext uri="{FF2B5EF4-FFF2-40B4-BE49-F238E27FC236}">
                <a16:creationId xmlns:a16="http://schemas.microsoft.com/office/drawing/2014/main" id="{23245DD0-6FF7-484D-ADC1-3079B2E3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504" y="3098959"/>
            <a:ext cx="80963" cy="1133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57" name="relacao-118">
            <a:extLst xmlns:a="http://schemas.openxmlformats.org/drawingml/2006/main">
              <a:ext uri="{FF2B5EF4-FFF2-40B4-BE49-F238E27FC236}">
                <a16:creationId xmlns:a16="http://schemas.microsoft.com/office/drawing/2014/main" id="{C08B5287-B085-4F84-9B47-C15C7094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99985" y="3212306"/>
            <a:ext cx="8096" cy="3481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58" name="texto-119">
            <a:extLst xmlns:a="http://schemas.openxmlformats.org/drawingml/2006/main">
              <a:ext uri="{FF2B5EF4-FFF2-40B4-BE49-F238E27FC236}">
                <a16:creationId xmlns:a16="http://schemas.microsoft.com/office/drawing/2014/main" id="{A7FD8B82-8F34-4445-8C9C-5122BF1C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7140" y="3291650"/>
            <a:ext cx="211798" cy="174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148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148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148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59" name="relacao-120">
            <a:extLst xmlns:a="http://schemas.openxmlformats.org/drawingml/2006/main">
              <a:ext uri="{FF2B5EF4-FFF2-40B4-BE49-F238E27FC236}">
                <a16:creationId xmlns:a16="http://schemas.microsoft.com/office/drawing/2014/main" id="{7FD0AD5A-F2E9-40D6-B610-C2B264A8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10275" y="5600700"/>
            <a:ext cx="178118" cy="80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dash"/>
          </a:ln>
        </p:spPr>
      </p:sp>
      <p:sp>
        <p:nvSpPr>
          <p:cNvPr id="60" name="relacao-121">
            <a:extLst xmlns:a="http://schemas.openxmlformats.org/drawingml/2006/main">
              <a:ext uri="{FF2B5EF4-FFF2-40B4-BE49-F238E27FC236}">
                <a16:creationId xmlns:a16="http://schemas.microsoft.com/office/drawing/2014/main" id="{C5B1DD29-FE27-45B3-A9B1-4E229BF9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188392" y="2524125"/>
            <a:ext cx="8096" cy="3076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dash"/>
          </a:ln>
        </p:spPr>
      </p:sp>
      <p:sp>
        <p:nvSpPr>
          <p:cNvPr id="61" name="relacao-122">
            <a:extLst xmlns:a="http://schemas.openxmlformats.org/drawingml/2006/main">
              <a:ext uri="{FF2B5EF4-FFF2-40B4-BE49-F238E27FC236}">
                <a16:creationId xmlns:a16="http://schemas.microsoft.com/office/drawing/2014/main" id="{7EC19F12-781B-44EE-8388-2850F35E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188392" y="2524125"/>
            <a:ext cx="178118" cy="80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dash"/>
          </a:ln>
        </p:spPr>
      </p:sp>
      <p:sp>
        <p:nvSpPr>
          <p:cNvPr id="62" name="relacao-123">
            <a:extLst xmlns:a="http://schemas.openxmlformats.org/drawingml/2006/main">
              <a:ext uri="{FF2B5EF4-FFF2-40B4-BE49-F238E27FC236}">
                <a16:creationId xmlns:a16="http://schemas.microsoft.com/office/drawing/2014/main" id="{06A080F7-FE09-447B-922C-9FEA7863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85548" y="2475548"/>
            <a:ext cx="80963" cy="485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63" name="relacao-124">
            <a:extLst xmlns:a="http://schemas.openxmlformats.org/drawingml/2006/main">
              <a:ext uri="{FF2B5EF4-FFF2-40B4-BE49-F238E27FC236}">
                <a16:creationId xmlns:a16="http://schemas.microsoft.com/office/drawing/2014/main" id="{CEAFC54D-645F-4912-8D1E-8C92F2F5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285548" y="2524125"/>
            <a:ext cx="80963" cy="485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64" name="texto-125">
            <a:extLst xmlns:a="http://schemas.openxmlformats.org/drawingml/2006/main">
              <a:ext uri="{FF2B5EF4-FFF2-40B4-BE49-F238E27FC236}">
                <a16:creationId xmlns:a16="http://schemas.microsoft.com/office/drawing/2014/main" id="{D8BB065A-32C6-47CE-B17E-870BE9F2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37" y="6295358"/>
            <a:ext cx="6265526" cy="174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148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defRPr sz="1148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148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Composição: losango preenchido. Consulta ao placar: linha tracejada.</a:t>
            </a:r>
          </a:p>
        </p:txBody>
      </p:sp>
    </p:spTree>
    <p:extLst>
      <p:ext uri="{BB962C8B-B14F-4D97-AF65-F5344CB8AC3E}">
        <p14:creationId xmlns:p14="http://schemas.microsoft.com/office/powerpoint/2010/main" val="2591898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37F7C-6AF8-4B89-9458-D712A336DB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f9be44bf445f1"/>
          <a:srcRect xmlns:a="http://schemas.openxmlformats.org/drawingml/2006/main" l="0" t="0" r="0" b="88889"/>
          <a:stretch xmlns:a="http://schemas.openxmlformats.org/drawingml/2006/main"/>
        </p:blipFill>
        <p:spPr>
          <a:xfrm xmlns:a="http://schemas.openxmlformats.org/drawingml/2006/main">
            <a:off x="0" y="0"/>
            <a:ext cx="9753600" cy="812797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03CE71-06F2-482F-8FB8-05082EB96B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a6785f15ad4922"/>
          <a:srcRect xmlns:a="http://schemas.openxmlformats.org/drawingml/2006/main" l="1938" t="95607" r="2132" b="3876"/>
          <a:stretch xmlns:a="http://schemas.openxmlformats.org/drawingml/2006/main"/>
        </p:blipFill>
        <p:spPr>
          <a:xfrm xmlns:a="http://schemas.openxmlformats.org/drawingml/2006/main">
            <a:off x="190500" y="6657975"/>
            <a:ext cx="9372600" cy="419100"/>
          </a:xfrm>
          <a:prstGeom xmlns:a="http://schemas.openxmlformats.org/drawingml/2006/main" prst="rect">
            <a:avLst/>
          </a:prstGeom>
        </p:spPr>
      </p:pic>
      <p:sp>
        <p:nvSpPr>
          <p:cNvPr id="3" name="texto-126">
            <a:extLst xmlns:a="http://schemas.openxmlformats.org/drawingml/2006/main">
              <a:ext uri="{FF2B5EF4-FFF2-40B4-BE49-F238E27FC236}">
                <a16:creationId xmlns:a16="http://schemas.microsoft.com/office/drawing/2014/main" id="{9E9708EF-128B-4B76-AC4A-FFD373E9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715125"/>
            <a:ext cx="904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Disciplina: Certificadora de Competência I</a:t>
            </a:r>
          </a:p>
        </p:txBody>
      </p:sp>
      <p:sp>
        <p:nvSpPr>
          <p:cNvPr id="4" name="texto-127">
            <a:extLst xmlns:a="http://schemas.openxmlformats.org/drawingml/2006/main">
              <a:ext uri="{FF2B5EF4-FFF2-40B4-BE49-F238E27FC236}">
                <a16:creationId xmlns:a16="http://schemas.microsoft.com/office/drawing/2014/main" id="{0895FCE1-863E-4CD3-A21B-B1AE46D1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33475"/>
            <a:ext cx="84296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0070C0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070C0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0070C0"/>
                </a:solidFill>
                <a:latin typeface="Nimbus Sans"/>
                <a:ea typeface="Nimbus Sans"/>
                <a:cs typeface="Nimbus Sans"/>
              </a:rPr>
              <a:t>Implementação integrada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CD9C4-AC43-4F75-9D67-EEC8D901F3C2}"/>
              </a:ext>
            </a:extLst>
          </p:cNvPr>
          <p:cNvGraphicFramePr/>
          <p:nvPr/>
        </p:nvGraphicFramePr>
        <p:xfrm>
          <a:off xmlns:a="http://schemas.openxmlformats.org/drawingml/2006/main" x="723900" y="2000250"/>
          <a:ext xmlns:a="http://schemas.openxmlformats.org/drawingml/2006/main" cx="8305800" cy="4000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429000"/>
                <a:gridCol w="4876800"/>
              </a:tblGrid>
              <a:tr h="438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Arquivo em src</a:t>
                      </a:r>
                    </a:p>
                  </a:txBody>
                  <a:tcPr marL="114300" marR="95250" marT="57150" marB="57150" anchor="ctr"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>
                      <a:solidFill>
                        <a:srgbClr val="BBBBBB"/>
                      </a:solidFill>
                      <a:prstDash val="soli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0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Responsabilidade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T w="9525">
                      <a:solidFill>
                        <a:srgbClr val="BBBBBB"/>
                      </a:solidFill>
                      <a:prstDash val="soli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0A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projetocertificador.c</a:t>
                      </a:r>
                    </a:p>
                  </a:txBody>
                  <a:tcPr marL="114300" marR="95250" marT="57150" marB="57150" anchor="ctr"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RF01 e integração entre os módulos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rf02.c</a:t>
                      </a:r>
                    </a:p>
                  </a:txBody>
                  <a:tcPr marL="114300" marR="95250" marT="57150" marB="57150" anchor="ctr"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Seleção, comparação e estados das cartas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turnos.c</a:t>
                      </a:r>
                    </a:p>
                  </a:txBody>
                  <a:tcPr marL="114300" marR="95250" marT="57150" marB="57150" anchor="ctr"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Jogador atual e alternância da vez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pontuacao.c</a:t>
                      </a:r>
                    </a:p>
                  </a:txBody>
                  <a:tcPr marL="114300" marR="95250" marT="57150" marB="57150" anchor="ctr"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Pontos, tentativas e pares encontrados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resultado.c</a:t>
                      </a:r>
                    </a:p>
                  </a:txBody>
                  <a:tcPr marL="114300" marR="95250" marT="57150" marB="57150" anchor="ctr"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Fim da partida, vencedor ou empate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o-128">
            <a:extLst xmlns:a="http://schemas.openxmlformats.org/drawingml/2006/main">
              <a:ext uri="{FF2B5EF4-FFF2-40B4-BE49-F238E27FC236}">
                <a16:creationId xmlns:a16="http://schemas.microsoft.com/office/drawing/2014/main" id="{155A0057-4460-4AE7-A51C-AFAE040D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8305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Testes aprovados em C, WebAssembly e Chromium real.</a:t>
            </a:r>
          </a:p>
        </p:txBody>
      </p:sp>
    </p:spTree>
    <p:extLst>
      <p:ext uri="{BB962C8B-B14F-4D97-AF65-F5344CB8AC3E}">
        <p14:creationId xmlns:p14="http://schemas.microsoft.com/office/powerpoint/2010/main" val="11265619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E9C999-C5B1-4DED-A4E1-313992A6FF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85b2da5fcc499b"/>
          <a:srcRect xmlns:a="http://schemas.openxmlformats.org/drawingml/2006/main" l="0" t="0" r="0" b="88889"/>
          <a:stretch xmlns:a="http://schemas.openxmlformats.org/drawingml/2006/main"/>
        </p:blipFill>
        <p:spPr>
          <a:xfrm xmlns:a="http://schemas.openxmlformats.org/drawingml/2006/main">
            <a:off x="0" y="0"/>
            <a:ext cx="9753600" cy="812797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686D8-FC87-4C85-A729-0FACC1C0F9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8ff27d80bd4495"/>
          <a:srcRect xmlns:a="http://schemas.openxmlformats.org/drawingml/2006/main" l="1938" t="95607" r="2132" b="3876"/>
          <a:stretch xmlns:a="http://schemas.openxmlformats.org/drawingml/2006/main"/>
        </p:blipFill>
        <p:spPr>
          <a:xfrm xmlns:a="http://schemas.openxmlformats.org/drawingml/2006/main">
            <a:off x="190500" y="6657975"/>
            <a:ext cx="9372600" cy="419100"/>
          </a:xfrm>
          <a:prstGeom xmlns:a="http://schemas.openxmlformats.org/drawingml/2006/main" prst="rect">
            <a:avLst/>
          </a:prstGeom>
        </p:spPr>
      </p:pic>
      <p:sp>
        <p:nvSpPr>
          <p:cNvPr id="3" name="texto-129">
            <a:extLst xmlns:a="http://schemas.openxmlformats.org/drawingml/2006/main">
              <a:ext uri="{FF2B5EF4-FFF2-40B4-BE49-F238E27FC236}">
                <a16:creationId xmlns:a16="http://schemas.microsoft.com/office/drawing/2014/main" id="{777C8AD9-8DF4-437B-BEA8-F91BFF32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715125"/>
            <a:ext cx="904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Disciplina: Certificadora de Competência I</a:t>
            </a:r>
          </a:p>
        </p:txBody>
      </p:sp>
      <p:sp>
        <p:nvSpPr>
          <p:cNvPr id="4" name="texto-130">
            <a:extLst xmlns:a="http://schemas.openxmlformats.org/drawingml/2006/main">
              <a:ext uri="{FF2B5EF4-FFF2-40B4-BE49-F238E27FC236}">
                <a16:creationId xmlns:a16="http://schemas.microsoft.com/office/drawing/2014/main" id="{5759D468-6A63-44DA-80C4-E1949E12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33475"/>
            <a:ext cx="84296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0070C0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070C0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0070C0"/>
                </a:solidFill>
                <a:latin typeface="Nimbus Sans"/>
                <a:ea typeface="Nimbus Sans"/>
                <a:cs typeface="Nimbus Sans"/>
              </a:rPr>
              <a:t>Demonstração do sistema</a:t>
            </a:r>
          </a:p>
        </p:txBody>
      </p:sp>
      <p:sp>
        <p:nvSpPr>
          <p:cNvPr id="5" name="texto-131">
            <a:extLst xmlns:a="http://schemas.openxmlformats.org/drawingml/2006/main">
              <a:ext uri="{FF2B5EF4-FFF2-40B4-BE49-F238E27FC236}">
                <a16:creationId xmlns:a16="http://schemas.microsoft.com/office/drawing/2014/main" id="{89B3A7E7-FDBB-4F08-ACE0-9B5AE979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8305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1  Iniciar a partida e conferir as 16 cartas.</a:t>
            </a:r>
          </a:p>
        </p:txBody>
      </p:sp>
      <p:sp>
        <p:nvSpPr>
          <p:cNvPr id="6" name="texto-132">
            <a:extLst xmlns:a="http://schemas.openxmlformats.org/drawingml/2006/main">
              <a:ext uri="{FF2B5EF4-FFF2-40B4-BE49-F238E27FC236}">
                <a16:creationId xmlns:a16="http://schemas.microsoft.com/office/drawing/2014/main" id="{2A4829E3-FBCC-4CC3-B1FE-65A593FE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8305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2  Encontrar um par e observar o ponto e a vez.</a:t>
            </a:r>
          </a:p>
        </p:txBody>
      </p:sp>
      <p:sp>
        <p:nvSpPr>
          <p:cNvPr id="7" name="texto-133">
            <a:extLst xmlns:a="http://schemas.openxmlformats.org/drawingml/2006/main">
              <a:ext uri="{FF2B5EF4-FFF2-40B4-BE49-F238E27FC236}">
                <a16:creationId xmlns:a16="http://schemas.microsoft.com/office/drawing/2014/main" id="{73A4B576-6769-413F-8A69-40187D48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8305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3  Errar um par e observar a troca de jogador.</a:t>
            </a:r>
          </a:p>
        </p:txBody>
      </p:sp>
      <p:sp>
        <p:nvSpPr>
          <p:cNvPr id="8" name="texto-134">
            <a:extLst xmlns:a="http://schemas.openxmlformats.org/drawingml/2006/main">
              <a:ext uri="{FF2B5EF4-FFF2-40B4-BE49-F238E27FC236}">
                <a16:creationId xmlns:a16="http://schemas.microsoft.com/office/drawing/2014/main" id="{CE129AD8-ABC9-482F-8950-DB3A1852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830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4  Mostrar o resultado e reiniciar a partida.</a:t>
            </a:r>
          </a:p>
        </p:txBody>
      </p:sp>
      <p:sp>
        <p:nvSpPr>
          <p:cNvPr id="9" name="texto-135">
            <a:extLst xmlns:a="http://schemas.openxmlformats.org/drawingml/2006/main">
              <a:ext uri="{FF2B5EF4-FFF2-40B4-BE49-F238E27FC236}">
                <a16:creationId xmlns:a16="http://schemas.microsoft.com/office/drawing/2014/main" id="{77FABCDC-BB5A-4E21-814C-72E4D733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8305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Terminal C: build_console.bat</a:t>
            </a:r>
          </a:p>
        </p:txBody>
      </p:sp>
      <p:sp>
        <p:nvSpPr>
          <p:cNvPr id="10" name="texto-136">
            <a:extLst xmlns:a="http://schemas.openxmlformats.org/drawingml/2006/main">
              <a:ext uri="{FF2B5EF4-FFF2-40B4-BE49-F238E27FC236}">
                <a16:creationId xmlns:a16="http://schemas.microsoft.com/office/drawing/2014/main" id="{8E825337-A516-491E-A6E3-CD278E7C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830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Web: python -m http.server 8000 --directory docs</a:t>
            </a:r>
          </a:p>
        </p:txBody>
      </p:sp>
    </p:spTree>
    <p:extLst>
      <p:ext uri="{BB962C8B-B14F-4D97-AF65-F5344CB8AC3E}">
        <p14:creationId xmlns:p14="http://schemas.microsoft.com/office/powerpoint/2010/main" val="19947674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6F8FC6-A262-4ADF-B544-0B22757F41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96a98ebc34f61"/>
          <a:srcRect xmlns:a="http://schemas.openxmlformats.org/drawingml/2006/main" l="0" t="0" r="0" b="88889"/>
          <a:stretch xmlns:a="http://schemas.openxmlformats.org/drawingml/2006/main"/>
        </p:blipFill>
        <p:spPr>
          <a:xfrm xmlns:a="http://schemas.openxmlformats.org/drawingml/2006/main">
            <a:off x="0" y="0"/>
            <a:ext cx="9753600" cy="812797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3F7715-422D-44A8-A74B-CDCDF9D442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8c97c52104efb"/>
          <a:srcRect xmlns:a="http://schemas.openxmlformats.org/drawingml/2006/main" l="1938" t="95607" r="2132" b="3876"/>
          <a:stretch xmlns:a="http://schemas.openxmlformats.org/drawingml/2006/main"/>
        </p:blipFill>
        <p:spPr>
          <a:xfrm xmlns:a="http://schemas.openxmlformats.org/drawingml/2006/main">
            <a:off x="190500" y="6657975"/>
            <a:ext cx="9372600" cy="419100"/>
          </a:xfrm>
          <a:prstGeom xmlns:a="http://schemas.openxmlformats.org/drawingml/2006/main" prst="rect">
            <a:avLst/>
          </a:prstGeom>
        </p:spPr>
      </p:pic>
      <p:sp>
        <p:nvSpPr>
          <p:cNvPr id="3" name="texto-137">
            <a:extLst xmlns:a="http://schemas.openxmlformats.org/drawingml/2006/main">
              <a:ext uri="{FF2B5EF4-FFF2-40B4-BE49-F238E27FC236}">
                <a16:creationId xmlns:a16="http://schemas.microsoft.com/office/drawing/2014/main" id="{BD4BE9D0-B7B1-4D83-A789-B3996C5A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715125"/>
            <a:ext cx="904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Disciplina: Certificadora de Competência I</a:t>
            </a:r>
          </a:p>
        </p:txBody>
      </p:sp>
      <p:sp>
        <p:nvSpPr>
          <p:cNvPr id="4" name="texto-138">
            <a:extLst xmlns:a="http://schemas.openxmlformats.org/drawingml/2006/main">
              <a:ext uri="{FF2B5EF4-FFF2-40B4-BE49-F238E27FC236}">
                <a16:creationId xmlns:a16="http://schemas.microsoft.com/office/drawing/2014/main" id="{6468CF43-0856-4D54-BE05-5E9413CB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33475"/>
            <a:ext cx="84296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0070C0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070C0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0070C0"/>
                </a:solidFill>
                <a:latin typeface="Nimbus Sans"/>
                <a:ea typeface="Nimbus Sans"/>
                <a:cs typeface="Nimbus Sans"/>
              </a:rPr>
              <a:t>Referências</a:t>
            </a:r>
          </a:p>
        </p:txBody>
      </p:sp>
      <p:sp>
        <p:nvSpPr>
          <p:cNvPr id="5" name="texto-139">
            <a:extLst xmlns:a="http://schemas.openxmlformats.org/drawingml/2006/main">
              <a:ext uri="{FF2B5EF4-FFF2-40B4-BE49-F238E27FC236}">
                <a16:creationId xmlns:a16="http://schemas.microsoft.com/office/drawing/2014/main" id="{86994A6E-FD4B-40C8-A48D-0F562107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830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Emscripten. Interacting with code.</a:t>
            </a:r>
          </a:p>
        </p:txBody>
      </p:sp>
      <p:sp>
        <p:nvSpPr>
          <p:cNvPr id="6" name="texto-140">
            <a:extLst xmlns:a="http://schemas.openxmlformats.org/drawingml/2006/main">
              <a:ext uri="{FF2B5EF4-FFF2-40B4-BE49-F238E27FC236}">
                <a16:creationId xmlns:a16="http://schemas.microsoft.com/office/drawing/2014/main" id="{404A9918-5B3E-40A0-BAC9-983747B2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62225"/>
            <a:ext cx="8305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emscripten.org/docs/porting/connecting_cpp_and_javascript/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Interacting-with-code.html</a:t>
            </a:r>
          </a:p>
        </p:txBody>
      </p:sp>
      <p:sp>
        <p:nvSpPr>
          <p:cNvPr id="7" name="texto-141">
            <a:extLst xmlns:a="http://schemas.openxmlformats.org/drawingml/2006/main">
              <a:ext uri="{FF2B5EF4-FFF2-40B4-BE49-F238E27FC236}">
                <a16:creationId xmlns:a16="http://schemas.microsoft.com/office/drawing/2014/main" id="{CF36F369-EA11-461B-9E84-0650DC94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830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Emscripten. Compiler Frontend emcc.</a:t>
            </a:r>
          </a:p>
        </p:txBody>
      </p:sp>
      <p:sp>
        <p:nvSpPr>
          <p:cNvPr id="8" name="texto-142">
            <a:extLst xmlns:a="http://schemas.openxmlformats.org/drawingml/2006/main">
              <a:ext uri="{FF2B5EF4-FFF2-40B4-BE49-F238E27FC236}">
                <a16:creationId xmlns:a16="http://schemas.microsoft.com/office/drawing/2014/main" id="{EE7CA51C-F760-4C03-850E-52D1A7AC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830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emscripten.org/docs/tools_reference/emcc.html</a:t>
            </a:r>
          </a:p>
        </p:txBody>
      </p:sp>
      <p:sp>
        <p:nvSpPr>
          <p:cNvPr id="9" name="texto-143">
            <a:extLst xmlns:a="http://schemas.openxmlformats.org/drawingml/2006/main">
              <a:ext uri="{FF2B5EF4-FFF2-40B4-BE49-F238E27FC236}">
                <a16:creationId xmlns:a16="http://schemas.microsoft.com/office/drawing/2014/main" id="{D4483AD8-29DF-4B1C-8690-40881B22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38725"/>
            <a:ext cx="830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Equipe do projeto. Jogo da Memória.</a:t>
            </a:r>
          </a:p>
        </p:txBody>
      </p:sp>
      <p:sp>
        <p:nvSpPr>
          <p:cNvPr id="10" name="texto-144">
            <a:extLst xmlns:a="http://schemas.openxmlformats.org/drawingml/2006/main">
              <a:ext uri="{FF2B5EF4-FFF2-40B4-BE49-F238E27FC236}">
                <a16:creationId xmlns:a16="http://schemas.microsoft.com/office/drawing/2014/main" id="{A8738C9C-F1BA-430A-9C13-372E2C9D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830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github.com/menezzs/jogo-memoria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Base consultada em 15/10/2026. Código consolidado no pacote.</a:t>
            </a:r>
          </a:p>
        </p:txBody>
      </p:sp>
    </p:spTree>
    <p:extLst>
      <p:ext uri="{BB962C8B-B14F-4D97-AF65-F5344CB8AC3E}">
        <p14:creationId xmlns:p14="http://schemas.microsoft.com/office/powerpoint/2010/main" val="12481031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2026-10-15T23:47:12.0570000Z</dcterms:created>
  <dcterms:modified xsi:type="dcterms:W3CDTF">2026-10-15T23:47:12.0570000Z</dcterms:modified>
</coreProperties>
</file>